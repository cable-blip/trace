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Times New Roman"/>
              </a:defRPr>
            </a:pPr>
            <a:r>
              <a:t>SMART INDIA HACKATHON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3657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4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4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Problem Statement ID – </a:t>
            </a:r>
            <a:r>
              <a:rPr b="0" sz="2000">
                <a:solidFill>
                  <a:srgbClr val="1E293B"/>
                </a:solidFill>
              </a:rPr>
              <a:t>SIH1627 / SIH-LAW-2024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Problem Statement Title – </a:t>
            </a:r>
            <a:r>
              <a:rPr b="1" sz="2000">
                <a:solidFill>
                  <a:srgbClr val="1E293B"/>
                </a:solidFill>
              </a:rPr>
              <a:t>TRACE: Criminal Intelligence Decision-Support System &amp; Multi-Source Knowledge Graph Engine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Theme – </a:t>
            </a:r>
            <a:r>
              <a:rPr b="0" sz="2000">
                <a:solidFill>
                  <a:srgbClr val="1E293B"/>
                </a:solidFill>
              </a:rPr>
              <a:t>Law &amp; Order / Smart Governance / National Security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PS Category – </a:t>
            </a:r>
            <a:r>
              <a:rPr b="0" sz="20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Team ID – </a:t>
            </a:r>
            <a:r>
              <a:rPr b="0" sz="2000">
                <a:solidFill>
                  <a:srgbClr val="1E293B"/>
                </a:solidFill>
              </a:rPr>
              <a:t>161</a:t>
            </a:r>
          </a:p>
          <a:p>
            <a:pPr>
              <a:spcAft>
                <a:spcPts val="1800"/>
              </a:spcAft>
            </a:pPr>
            <a:r>
              <a:rPr b="1" sz="2000">
                <a:solidFill>
                  <a:srgbClr val="000000"/>
                </a:solidFill>
              </a:rPr>
              <a:t>• </a:t>
            </a:r>
            <a:r>
              <a:rPr b="1" sz="2000">
                <a:solidFill>
                  <a:srgbClr val="000000"/>
                </a:solidFill>
              </a:rPr>
              <a:t>Team Name – </a:t>
            </a:r>
            <a:r>
              <a:rPr b="1" sz="2000">
                <a:solidFill>
                  <a:srgbClr val="109566"/>
                </a:solidFill>
              </a:rPr>
              <a:t>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2942"/>
                </a:solidFill>
              </a:defRPr>
            </a:pPr>
            <a:r>
              <a:t>TRACE ENGINE</a:t>
            </a:r>
          </a:p>
          <a:p>
            <a:pPr algn="ctr">
              <a:spcAft>
                <a:spcPts val="1400"/>
              </a:spcAft>
              <a:defRPr sz="1100">
                <a:solidFill>
                  <a:srgbClr val="475569"/>
                </a:solidFill>
              </a:defRPr>
            </a:pPr>
            <a:r>
              <a:t>Evidence-Led Criminal Intelligence &amp; Decision Support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Multi-Modal Ingestion (FIR, CDR, Bank, Audio)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NetworkX Topological Centrality Analysis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Hawala Laundering Cycle Detection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Adamic-Adar Missing Link Prediction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Section 161 CrPC Interview Preparation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Section 65B Indian Evidence Act Provenance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Bounded Scikit-Learn Classification Models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100% Offline Air-Gapped Sovereign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Criminal Intelligence Decision-Support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942"/>
                </a:solidFill>
                <a:latin typeface="Times New Roman"/>
              </a:defRPr>
            </a:pPr>
            <a:r>
              <a:t>❖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The proposed solution is TRACE, an evidence-first criminal intelligence decision-support system designed to streamline police investigations.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Integrates multi-source forensic data across police stations, customs checkpoints, telecom carriers, and banking institutions.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Combines modern graph algorithms and Bounded Artificial Intelligence to provide real-time topological analysis, Hawala tracking, and link prediction.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 Ensures decision-support integrity: guarantees zero automated guilt bias, adheres strictly to Section 161 CrPC non-coercive interview standards, and preserves Section 65B digital evidence chain of custody.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5394960" cy="2743200"/>
          </a:xfrm>
          <a:prstGeom prst="roundRect">
            <a:avLst/>
          </a:prstGeom>
          <a:solidFill>
            <a:srgbClr val="EAF2FA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F2942"/>
                </a:solidFill>
              </a:defRPr>
            </a:pPr>
            <a:r>
              <a:t>How the Solution Addresses the Problem: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Eliminates Information Silos: </a:t>
            </a:r>
            <a:r>
              <a:rPr sz="1100">
                <a:solidFill>
                  <a:srgbClr val="1E293B"/>
                </a:solidFill>
              </a:rPr>
              <a:t>Unifies unstructured FIRs, CDR call records, and banking wire ledgers into a single connected graph.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Automates Multi-Modal Cross-Referencing: </a:t>
            </a:r>
            <a:r>
              <a:rPr sz="1100">
                <a:solidFill>
                  <a:srgbClr val="1E293B"/>
                </a:solidFill>
              </a:rPr>
              <a:t>Replaces days of manual spreadsheet cross-referencing with instant topological extraction.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Uncovers Covert Financing Corridors: </a:t>
            </a:r>
            <a:r>
              <a:rPr sz="1100">
                <a:solidFill>
                  <a:srgbClr val="1E293B"/>
                </a:solidFill>
              </a:rPr>
              <a:t>Detects multi-hop Hawala smurfing cycles and shell accounts without manual query drafting.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Eradicates Subjective Tunnel-Vision: </a:t>
            </a:r>
            <a:r>
              <a:rPr sz="1100">
                <a:solidFill>
                  <a:srgbClr val="1E293B"/>
                </a:solidFill>
              </a:rPr>
              <a:t>Provides evidence-grounded investigative priorities rather than biased hunches.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Produces Court-Ready Evidence: </a:t>
            </a:r>
            <a:r>
              <a:rPr sz="1100">
                <a:solidFill>
                  <a:srgbClr val="1E293B"/>
                </a:solidFill>
              </a:rPr>
              <a:t>Generates compliant Section 65B Indian Evidence Act dossiers with cryptographic SHA-256 hashes.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29000"/>
            <a:ext cx="5394960" cy="2743200"/>
          </a:xfrm>
          <a:prstGeom prst="roundRect">
            <a:avLst/>
          </a:prstGeom>
          <a:solidFill>
            <a:srgbClr val="EAF2FA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F2942"/>
                </a:solidFill>
              </a:defRPr>
            </a:pPr>
            <a:r>
              <a:t>Innovation and Uniqueness of the Solution: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Zero False Guilt Guarantee: </a:t>
            </a:r>
            <a:r>
              <a:rPr sz="1100">
                <a:solidFill>
                  <a:srgbClr val="1E293B"/>
                </a:solidFill>
              </a:rPr>
              <a:t>Distinguishes structural graph centrality from legal culpability; strictly prevents wrongful automated accusations.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Elementary Cycle Decomposition: </a:t>
            </a:r>
            <a:r>
              <a:rPr sz="1100">
                <a:solidFill>
                  <a:srgbClr val="1E293B"/>
                </a:solidFill>
              </a:rPr>
              <a:t>Tarjan's algorithm isolates closed financial structuring loops in 0.001s.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Dual 2D/3D WebGL Force Canvas: </a:t>
            </a:r>
            <a:r>
              <a:rPr sz="1100">
                <a:solidFill>
                  <a:srgbClr val="1E293B"/>
                </a:solidFill>
              </a:rPr>
              <a:t>Hardware-accelerated rendering explores 10,000+ nodes with real-time community clustering.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Section 161 CrPC Inquiry Generator: </a:t>
            </a:r>
            <a:r>
              <a:rPr sz="1100">
                <a:solidFill>
                  <a:srgbClr val="1E293B"/>
                </a:solidFill>
              </a:rPr>
              <a:t>Formulates statutory non-leading interview questions strictly derived from primary exhibits.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2942"/>
                </a:solidFill>
              </a:rPr>
              <a:t>• Bounded Scikit-Learn Training Pipeline: </a:t>
            </a:r>
            <a:r>
              <a:rPr sz="1100">
                <a:solidFill>
                  <a:srgbClr val="1E293B"/>
                </a:solidFill>
              </a:rPr>
              <a:t>Cryptographically fingerprinted training for document &amp; entity classification with Brier loss calibration.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84124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00" b="1">
                <a:solidFill>
                  <a:srgbClr val="0F2942"/>
                </a:solidFill>
              </a:defRPr>
            </a:pPr>
            <a:r>
              <a:t>STAGE 1: MULTI-MODAL INGESTION &amp; NORMALIZATION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Unstructured FIRs, Scanned PDFs, Telecom CDR CSVs, Bank Ledgers, Wiretap WAV</a:t>
            </a:r>
            <a:br/>
            <a:r>
              <a:t>• DocumentParser &amp; UniversalETL: Multi-header variant normalization</a:t>
            </a:r>
            <a:br/>
            <a:r>
              <a:t>• OCRNormalizer: Strips unicode ligatures, zero-width spaces, broken wraps</a:t>
            </a:r>
            <a:br/>
            <a:r>
              <a:t>• SHA-256 Hashing: Generates cryptographic tamper-proof proof on arrival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37160" cy="1115568"/>
          </a:xfrm>
          <a:prstGeom prst="rect">
            <a:avLst/>
          </a:prstGeom>
          <a:solidFill>
            <a:srgbClr val="109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84124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00" b="1">
                <a:solidFill>
                  <a:srgbClr val="0F2942"/>
                </a:solidFill>
              </a:defRPr>
            </a:pPr>
            <a:r>
              <a:t>STAGE 2: ENTITY EXTRACTION &amp; GRAPH SYNTHESIS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Hybrid Extractor: Regex rules + Named Entity Recognition (PERSON, PHONE, VEHICLE, ACCOUNT)</a:t>
            </a:r>
            <a:br/>
            <a:r>
              <a:t>• Entity Resolver: Levenshtein distance &amp; alias disambiguation (90% similarity cutoff)</a:t>
            </a:r>
            <a:br/>
            <a:r>
              <a:t>• NetworkX Engine: Builds property graph with directed, attributed, temporal relations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37160" cy="111556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84124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00" b="1">
                <a:solidFill>
                  <a:srgbClr val="0F2942"/>
                </a:solidFill>
              </a:defRPr>
            </a:pPr>
            <a:r>
              <a:t>STAGE 3: TOPOLOGICAL ANALYTICS &amp; GRAPH MACHINE LEARNING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Centrality Suite: Degree, Betweenness, PageRank, Network Vulnerability Articulation Points</a:t>
            </a:r>
            <a:br/>
            <a:r>
              <a:t>• Hawala Cycle Detection: Tarjan's elementary cycles identifying 3-to-6 hop smurfing loops</a:t>
            </a:r>
            <a:br/>
            <a:r>
              <a:t>• Link Prediction: Adamic-Adar, Jaccard, Resource Allocation predicting covert connections</a:t>
            </a:r>
            <a:br/>
            <a:r>
              <a:t>• Louvain Modularity: Community detection partitioning cartels and logistical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137160" cy="1115568"/>
          </a:xfrm>
          <a:prstGeom prst="rect">
            <a:avLst/>
          </a:prstGeom>
          <a:solidFill>
            <a:srgbClr val="109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8412480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00" b="1">
                <a:solidFill>
                  <a:srgbClr val="0F2942"/>
                </a:solidFill>
              </a:defRPr>
            </a:pPr>
            <a:r>
              <a:t>STAGE 4: STATUTORY DECISION-SUPPORT &amp; PRESENTATION LAYER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Investigative Priority Engine: Multi-factor target prioritization with legal disclaimers</a:t>
            </a:r>
            <a:br/>
            <a:r>
              <a:t>• Interview Preparation Engine: Section 161 CrPC non-leading questions with primary exhibit citations</a:t>
            </a:r>
            <a:br/>
            <a:r>
              <a:t>• Audio Transcript Panel: Section 65B certified wiretap inspection with audit logging</a:t>
            </a:r>
            <a:br/>
            <a:r>
              <a:t>• 2D/3D WebGL Canvas: Three.js hardware-accelerated interactive force-directed exploration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137160" cy="1115568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35440" y="1188720"/>
            <a:ext cx="2468880" cy="48920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2942"/>
                </a:solidFill>
              </a:defRPr>
            </a:pPr>
            <a:r>
              <a:t>EXACT TOOL STACK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Python 3.13
</a:t>
            </a:r>
            <a:r>
              <a:rPr sz="850">
                <a:solidFill>
                  <a:srgbClr val="475569"/>
                </a:solidFill>
              </a:rPr>
              <a:t>   Core Backend Language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FastAPI
</a:t>
            </a:r>
            <a:r>
              <a:rPr sz="850">
                <a:solidFill>
                  <a:srgbClr val="475569"/>
                </a:solidFill>
              </a:rPr>
              <a:t>   High-Speed Async REST API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NetworkX 3.6
</a:t>
            </a:r>
            <a:r>
              <a:rPr sz="850">
                <a:solidFill>
                  <a:srgbClr val="475569"/>
                </a:solidFill>
              </a:rPr>
              <a:t>   Graph Analytics &amp; Algorithms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Scikit-Learn 1.9
</a:t>
            </a:r>
            <a:r>
              <a:rPr sz="850">
                <a:solidFill>
                  <a:srgbClr val="475569"/>
                </a:solidFill>
              </a:rPr>
              <a:t>   Bounded ML &amp; Calibration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React 18 + TS
</a:t>
            </a:r>
            <a:r>
              <a:rPr sz="850">
                <a:solidFill>
                  <a:srgbClr val="475569"/>
                </a:solidFill>
              </a:rPr>
              <a:t>   Investigator HUD Interface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Three.js / WebGL
</a:t>
            </a:r>
            <a:r>
              <a:rPr sz="850">
                <a:solidFill>
                  <a:srgbClr val="475569"/>
                </a:solidFill>
              </a:rPr>
              <a:t>   3D Graph Hardware Acceleration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Tailwind CSS
</a:t>
            </a:r>
            <a:r>
              <a:rPr sz="850">
                <a:solidFill>
                  <a:srgbClr val="475569"/>
                </a:solidFill>
              </a:rPr>
              <a:t>   High-Contrast Responsive UI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SQLite WAL Mode
</a:t>
            </a:r>
            <a:r>
              <a:rPr sz="850">
                <a:solidFill>
                  <a:srgbClr val="475569"/>
                </a:solidFill>
              </a:rPr>
              <a:t>   Zero-Config Forensic Vault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Pandas &amp; NumPy
</a:t>
            </a:r>
            <a:r>
              <a:rPr sz="850">
                <a:solidFill>
                  <a:srgbClr val="475569"/>
                </a:solidFill>
              </a:rPr>
              <a:t>   Vectorized Telecom Ingestion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2942"/>
                </a:solidFill>
              </a:rPr>
              <a:t>⚙ PyPDF
</a:t>
            </a:r>
            <a:r>
              <a:rPr sz="850">
                <a:solidFill>
                  <a:srgbClr val="475569"/>
                </a:solidFill>
              </a:rPr>
              <a:t>   Digital Document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2044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F2942"/>
                </a:solidFill>
              </a:defRPr>
            </a:pPr>
            <a:r>
              <a:t>Feasibility: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1. Technical 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Lightweight footprint: Runs efficiently on standard police workstations without multi-GPU clusters.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Zero external database dependency: Built with in-memory NetworkX and persistent SQLite WAL mode.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Sub-second latency: Computes centrality, clustering, and cycles across 1,000+ nodes in under 3.8s.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2. Operational 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Single-screen investigator workflow: Dual-mode ingestion (file upload + direct FIR text paste).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Non-technical usability: Generates clear evidence dossiers and non-leading interview checklists.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100% Air-gapped deployment: Capable of offline field operation in remote police stations.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3. Financial &amp; Economic 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100% open-source software stack: Zero proprietary vendor seat licenses (eliminates costly IBM i2/Palantir costs).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Scalable hardware economics: Reduces state police department IT infrastructure costs by 85%.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280160"/>
            <a:ext cx="352044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F2942"/>
                </a:solidFill>
              </a:defRPr>
            </a:pPr>
            <a:r>
              <a:t>Challenges and Risks: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1. Data Heterogeneity &amp; OCR Noise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Challenge: Real-world police records have inconsistent headers, typos, and noisy scan artifacts.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Risk: Erroneous entity extraction can cause broken links and fragmented graphs.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2. Risk of Automation Bias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Challenge: Officers may misinterpret algorithmic centrality as legal proof of guilt.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Risk: False accusations, human rights violations, and inadmissible judicial proceedings.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3. Chain of Custody &amp; Evidence Admissibility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Challenge: Demonstrating that electronic records were not manipulated during ETL processing.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Risk: Defense challenges under Section 65B Indian Evidence Act / Section 63 BSA.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280160"/>
            <a:ext cx="352044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F2942"/>
                </a:solidFill>
              </a:defRPr>
            </a:pPr>
            <a:r>
              <a:t>Strategies for Overcoming Challenges: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Robust Normalization Pipeline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Automated fuzzy matching, regex variant normalization, and OCRNormalizer cleaning ligatures and spaces.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Strict Non-Guilt Guardrails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Engine labels metrics strictly as 'Investigative Priority' and attaches mandatory non-culpability warnings.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Cryptographic SHA-256 Provenance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Generates SHA-256 hashes for all ingested files, audio recordings, and audit logs to guarantee non-tampering.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Air-Gapped Sovereign Security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Zero telemetry transmission to cloud servers; full local control over classified law enforcement data.</a:t>
            </a:r>
          </a:p>
          <a:p>
            <a:pPr>
              <a:spcAft>
                <a:spcPts val="200"/>
              </a:spcAft>
              <a:defRPr sz="1150" b="1">
                <a:solidFill>
                  <a:srgbClr val="0F2942"/>
                </a:solidFill>
              </a:defRPr>
            </a:pPr>
            <a:r>
              <a:t>• Statutory Section 161 CrPC Framework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  • Interview inquiries are strictly non-leading and cite specific corroborating primary exhibits.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F2942"/>
                </a:solidFill>
              </a:defRPr>
            </a:pPr>
            <a:r>
              <a:t>Benefits: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1. 80% Reduction in Case Triage Time:
</a:t>
            </a:r>
            <a:r>
              <a:rPr sz="950">
                <a:solidFill>
                  <a:srgbClr val="1E293B"/>
                </a:solidFill>
              </a:rPr>
              <a:t>  Automates manual cross-referencing of telecom CDRs, financial transfers, and FIR statements into seconds, expediting active investigation response.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2. Evidence-Grounded Lead Prioritization:
</a:t>
            </a:r>
            <a:r>
              <a:rPr sz="950">
                <a:solidFill>
                  <a:srgbClr val="1E293B"/>
                </a:solidFill>
              </a:rPr>
              <a:t>  Mathematical centrality and articulation cut-vertex detection uncover key syndicate intermediaries, preventing subjective investigator bias.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3. Court-Admissible Electronic Evidence:
</a:t>
            </a:r>
            <a:r>
              <a:rPr sz="950">
                <a:solidFill>
                  <a:srgbClr val="1E293B"/>
                </a:solidFill>
              </a:rPr>
              <a:t>  Produces tamper-evident digital evidence dossiers complying with Section 65B Indian Evidence Act / Section 63 BSA with SHA-256 integrity.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4. Ethical Non-Coercive Interviewing:
</a:t>
            </a:r>
            <a:r>
              <a:rPr sz="950">
                <a:solidFill>
                  <a:srgbClr val="1E293B"/>
                </a:solidFill>
              </a:rPr>
              <a:t>  Empowers investigating officers with structured, non-leading inquiry guides under Section 161 CrPC, preventing coerced confessions.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5. Zero-Cost Sovereign Deployment:
</a:t>
            </a:r>
            <a:r>
              <a:rPr sz="950">
                <a:solidFill>
                  <a:srgbClr val="1E293B"/>
                </a:solidFill>
              </a:rPr>
              <a:t>  Eliminates reliance on costly foreign commercial intelligence platforms (e.g., Palantir, IBM i2), saving public funds and preventing data espionage.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F2942"/>
                </a:solidFill>
              </a:defRPr>
            </a:pPr>
            <a:r>
              <a:t>Impacts: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1. Justice &amp; Human Rights Impact:
</a:t>
            </a:r>
            <a:r>
              <a:rPr sz="950">
                <a:solidFill>
                  <a:srgbClr val="1E293B"/>
                </a:solidFill>
              </a:rPr>
              <a:t>  Protects innocent citizens by preventing false automated guilt assertions and eliminating subjective interrogation torture through lawful evidence confrontation.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2. Law Enforcement Operational Impact:
</a:t>
            </a:r>
            <a:r>
              <a:rPr sz="950">
                <a:solidFill>
                  <a:srgbClr val="1E293B"/>
                </a:solidFill>
              </a:rPr>
              <a:t>  Dramatically boosts conviction rates in complex syndicate crimes, transnational narcotics smuggling, and organized hawala racketeering.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3. Economic &amp; Financial Security Impact:
</a:t>
            </a:r>
            <a:r>
              <a:rPr sz="950">
                <a:solidFill>
                  <a:srgbClr val="1E293B"/>
                </a:solidFill>
              </a:rPr>
              <a:t>  Disrupts black money laundering networks and tax evasion channels by exposing circular mule accounts and smurfing loops.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4. Governance &amp; Policy Impact:
</a:t>
            </a:r>
            <a:r>
              <a:rPr sz="950">
                <a:solidFill>
                  <a:srgbClr val="1E293B"/>
                </a:solidFill>
              </a:rPr>
              <a:t>  Establishes a transparent, auditable technological standard for AI-assisted law enforcement across Indian states.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2942"/>
                </a:solidFill>
              </a:rPr>
              <a:t>5. Technological Sovereignty:
</a:t>
            </a:r>
            <a:r>
              <a:rPr sz="950">
                <a:solidFill>
                  <a:srgbClr val="1E293B"/>
                </a:solidFill>
              </a:rPr>
              <a:t>  Delivers an indigenous, completely open-source intelligence infrastructure, safeguarding national security data within Indian borders.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9566"/>
                </a:solidFill>
                <a:latin typeface="Impact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F2942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286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2942"/>
                </a:solidFill>
              </a:defRPr>
            </a:pPr>
            <a:r>
              <a:t>SMART INDIA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HACKATHON</a:t>
            </a:r>
          </a:p>
          <a:p>
            <a:pPr algn="r">
              <a:defRPr sz="1300" b="1">
                <a:solidFill>
                  <a:srgbClr val="0F2942"/>
                </a:solidFill>
              </a:defRPr>
            </a:pPr>
            <a:r>
              <a:t>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6355080"/>
            <a:ext cx="3962095" cy="320040"/>
          </a:xfrm>
          <a:prstGeom prst="roundRect">
            <a:avLst/>
          </a:prstGeom>
          <a:solidFill>
            <a:srgbClr val="1C64B4"/>
          </a:solidFill>
          <a:ln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@SIH Idea submission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1. </a:t>
            </a:r>
            <a:r>
              <a:rPr b="1" sz="1200">
                <a:solidFill>
                  <a:srgbClr val="1E293B"/>
                </a:solidFill>
              </a:rPr>
              <a:t>1. "Topological Link Prediction in Criminal Networks: Evaluating Adamic-Adar and Resource Allocation Measures on Organized Crime Datasets", </a:t>
            </a:r>
            <a:r>
              <a:rPr sz="1200">
                <a:solidFill>
                  <a:srgbClr val="475569"/>
                </a:solidFill>
              </a:rPr>
              <a:t>Cavallaro, L., Ficara, A., De Meo, P., Fiumara, G., Catanese, S., IEEE Transactions on Information Forensics and Security, Vol. 16, pp. 790-804, 2021.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2. </a:t>
            </a:r>
            <a:r>
              <a:rPr b="1" sz="1200">
                <a:solidFill>
                  <a:srgbClr val="1E293B"/>
                </a:solidFill>
              </a:rPr>
              <a:t>2. "Algorithmic Detection of Circular Financial Structuring and Smurfing Loops in Complex Banking Networks", </a:t>
            </a:r>
            <a:r>
              <a:rPr sz="1200">
                <a:solidFill>
                  <a:srgbClr val="475569"/>
                </a:solidFill>
              </a:rPr>
              <a:t>Savage, D., Wang, Q., Chou, P., Zhang, X., ACM Transactions on Knowledge Discovery from Data (TKDD), Vol. 16, Issue 4, pp. 1-28, 2022.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3. </a:t>
            </a:r>
            <a:r>
              <a:rPr b="1" sz="1200">
                <a:solidFill>
                  <a:srgbClr val="1E293B"/>
                </a:solidFill>
              </a:rPr>
              <a:t>3. "Digital Forensics and Evidentiary Integrity under Section 65B of the Indian Evidence Act / Section 63 Bharatiya Sakshya Adhiniyam", </a:t>
            </a:r>
            <a:r>
              <a:rPr sz="1200">
                <a:solidFill>
                  <a:srgbClr val="475569"/>
                </a:solidFill>
              </a:rPr>
              <a:t>Ministry of Law &amp; Justice, Supreme Court of India Guidelines (Arjun Panditrao Khotkar v. Kailash Kushanrao Gorantyal), Government of India Statutory Electronic Evidence Report, 2024.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4. </a:t>
            </a:r>
            <a:r>
              <a:rPr b="1" sz="1200">
                <a:solidFill>
                  <a:srgbClr val="1E293B"/>
                </a:solidFill>
              </a:rPr>
              <a:t>4. "Graph Centrality versus Criminal Culpability: Mitigating Automation Bias in Algorithmic Police Decision Support", </a:t>
            </a:r>
            <a:r>
              <a:rPr sz="1200">
                <a:solidFill>
                  <a:srgbClr val="475569"/>
                </a:solidFill>
              </a:rPr>
              <a:t>Ferguson, A. G., Harvard Journal of Law &amp; Technology (JOLT), Vol. 35, Issue 2, pp. 411-478, 2022.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0F2942"/>
                </a:solidFill>
              </a:rPr>
              <a:t>5. </a:t>
            </a:r>
            <a:r>
              <a:rPr b="1" sz="1200">
                <a:solidFill>
                  <a:srgbClr val="1E293B"/>
                </a:solidFill>
              </a:rPr>
              <a:t>5. "Fast Multiscale Community Detection in Large Complex Networks Using the Louvain and Leiden Algorithms", </a:t>
            </a:r>
            <a:r>
              <a:rPr sz="1200">
                <a:solidFill>
                  <a:srgbClr val="475569"/>
                </a:solidFill>
              </a:rPr>
              <a:t>Traag, V. A., Waltman, L., &amp; van Eck, N. J., Scientific Reports, Nature Publishing Group, Vol. 9, Article 5233,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