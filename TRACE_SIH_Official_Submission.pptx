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731520"/>
            <a:ext cx="10362895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b="1" sz="3600">
                <a:solidFill>
                  <a:srgbClr val="0F2C59"/>
                </a:solidFill>
              </a:rPr>
              <a:t>SMART INDIA HACKATHON 2026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463040"/>
            <a:ext cx="10362895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500">
                <a:solidFill>
                  <a:srgbClr val="475569"/>
                </a:solidFill>
              </a:rPr>
              <a:t>Official Idea Submission  •  Internal Hackathon Nomination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14400" y="2103120"/>
            <a:ext cx="7132320" cy="411480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0" tIns="365760" rIns="365760"/>
          <a:lstStyle/>
          <a:p>
            <a:pPr algn="ctr">
              <a:spcAft>
                <a:spcPts val="1200"/>
              </a:spcAft>
            </a:pPr>
            <a:r>
              <a:rPr b="1" sz="1500">
                <a:solidFill>
                  <a:srgbClr val="0284C7"/>
                </a:solidFill>
              </a:rPr>
              <a:t>•  </a:t>
            </a:r>
            <a:r>
              <a:rPr b="1" sz="1500">
                <a:solidFill>
                  <a:srgbClr val="0F2C59"/>
                </a:solidFill>
              </a:rPr>
              <a:t>Problem Statement ID – </a:t>
            </a:r>
            <a:r>
              <a:rPr sz="1500">
                <a:solidFill>
                  <a:srgbClr val="0F172A"/>
                </a:solidFill>
              </a:rPr>
              <a:t>SIH26189</a:t>
            </a:r>
          </a:p>
          <a:p>
            <a:pPr>
              <a:spcAft>
                <a:spcPts val="1200"/>
              </a:spcAft>
            </a:pPr>
            <a:r>
              <a:rPr b="1" sz="1500">
                <a:solidFill>
                  <a:srgbClr val="0284C7"/>
                </a:solidFill>
              </a:rPr>
              <a:t>•  </a:t>
            </a:r>
            <a:r>
              <a:rPr b="1" sz="1500">
                <a:solidFill>
                  <a:srgbClr val="0F2C59"/>
                </a:solidFill>
              </a:rPr>
              <a:t>Problem Statement Title – </a:t>
            </a:r>
            <a:r>
              <a:rPr sz="1500">
                <a:solidFill>
                  <a:srgbClr val="0F172A"/>
                </a:solidFill>
              </a:rPr>
              <a:t>AI-Powered Criminal Network Analysis System</a:t>
            </a:r>
          </a:p>
          <a:p>
            <a:pPr>
              <a:spcAft>
                <a:spcPts val="1200"/>
              </a:spcAft>
            </a:pPr>
            <a:r>
              <a:rPr b="1" sz="1500">
                <a:solidFill>
                  <a:srgbClr val="0284C7"/>
                </a:solidFill>
              </a:rPr>
              <a:t>•  </a:t>
            </a:r>
            <a:r>
              <a:rPr b="1" sz="1500">
                <a:solidFill>
                  <a:srgbClr val="0F2C59"/>
                </a:solidFill>
              </a:rPr>
              <a:t>Theme – </a:t>
            </a:r>
            <a:r>
              <a:rPr sz="1500">
                <a:solidFill>
                  <a:srgbClr val="0F172A"/>
                </a:solidFill>
              </a:rPr>
              <a:t>Security &amp; Surveillance / Smart Law Enforcement</a:t>
            </a:r>
          </a:p>
          <a:p>
            <a:pPr>
              <a:spcAft>
                <a:spcPts val="1200"/>
              </a:spcAft>
            </a:pPr>
            <a:r>
              <a:rPr b="1" sz="1500">
                <a:solidFill>
                  <a:srgbClr val="0284C7"/>
                </a:solidFill>
              </a:rPr>
              <a:t>•  </a:t>
            </a:r>
            <a:r>
              <a:rPr b="1" sz="1500">
                <a:solidFill>
                  <a:srgbClr val="0F2C59"/>
                </a:solidFill>
              </a:rPr>
              <a:t>PS Category – </a:t>
            </a:r>
            <a:r>
              <a:rPr sz="1500">
                <a:solidFill>
                  <a:srgbClr val="0F172A"/>
                </a:solidFill>
              </a:rPr>
              <a:t>Software</a:t>
            </a:r>
          </a:p>
          <a:p>
            <a:pPr>
              <a:spcAft>
                <a:spcPts val="1200"/>
              </a:spcAft>
            </a:pPr>
            <a:r>
              <a:rPr b="1" sz="1500">
                <a:solidFill>
                  <a:srgbClr val="0284C7"/>
                </a:solidFill>
              </a:rPr>
              <a:t>•  </a:t>
            </a:r>
            <a:r>
              <a:rPr b="1" sz="1500">
                <a:solidFill>
                  <a:srgbClr val="0F2C59"/>
                </a:solidFill>
              </a:rPr>
              <a:t>Team ID – </a:t>
            </a:r>
            <a:r>
              <a:rPr sz="1500">
                <a:solidFill>
                  <a:srgbClr val="0F172A"/>
                </a:solidFill>
              </a:rPr>
              <a:t>63626 (Nominated Team)</a:t>
            </a:r>
          </a:p>
          <a:p>
            <a:pPr>
              <a:spcAft>
                <a:spcPts val="1200"/>
              </a:spcAft>
            </a:pPr>
            <a:r>
              <a:rPr b="1" sz="1500">
                <a:solidFill>
                  <a:srgbClr val="0284C7"/>
                </a:solidFill>
              </a:rPr>
              <a:t>•  </a:t>
            </a:r>
            <a:r>
              <a:rPr b="1" sz="1500">
                <a:solidFill>
                  <a:srgbClr val="0F2C59"/>
                </a:solidFill>
              </a:rPr>
              <a:t>Team Name – </a:t>
            </a:r>
            <a:r>
              <a:rPr sz="1500">
                <a:solidFill>
                  <a:srgbClr val="0F172A"/>
                </a:solidFill>
              </a:rPr>
              <a:t>Team TRACE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321040" y="2103120"/>
            <a:ext cx="2926080" cy="4114800"/>
          </a:xfrm>
          <a:prstGeom prst="roundRect">
            <a:avLst/>
          </a:prstGeom>
          <a:solidFill>
            <a:srgbClr val="EFF6FF"/>
          </a:solidFill>
          <a:ln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274320"/>
          <a:lstStyle/>
          <a:p>
            <a:pPr algn="ctr"/>
            <a:r>
              <a:rPr b="1" sz="2800">
                <a:solidFill>
                  <a:srgbClr val="0F2C59"/>
                </a:solidFill>
              </a:rPr>
              <a:t>🛡️ TRACE</a:t>
            </a:r>
          </a:p>
          <a:p>
            <a:pPr algn="ctr">
              <a:spcAft>
                <a:spcPts val="1400"/>
              </a:spcAft>
            </a:pPr>
            <a:r>
              <a:rPr b="1" sz="1300">
                <a:solidFill>
                  <a:srgbClr val="0284C7"/>
                </a:solidFill>
              </a:rPr>
              <a:t>Criminal Intelligence &amp;
Decision-Support Platform</a:t>
            </a:r>
          </a:p>
          <a:p>
            <a:pPr algn="l">
              <a:spcAft>
                <a:spcPts val="800"/>
              </a:spcAft>
            </a:pPr>
            <a:r>
              <a:rPr sz="1100">
                <a:solidFill>
                  <a:srgbClr val="0F172A"/>
                </a:solidFill>
              </a:rPr>
              <a:t>✅ Multi-Modal Graph Fusion</a:t>
            </a:r>
          </a:p>
          <a:p>
            <a:pPr algn="l">
              <a:spcAft>
                <a:spcPts val="800"/>
              </a:spcAft>
            </a:pPr>
            <a:r>
              <a:rPr sz="1100">
                <a:solidFill>
                  <a:srgbClr val="0F172A"/>
                </a:solidFill>
              </a:rPr>
              <a:t>✅ Local-First (Zero GPU Req.)</a:t>
            </a:r>
          </a:p>
          <a:p>
            <a:pPr algn="l">
              <a:spcAft>
                <a:spcPts val="800"/>
              </a:spcAft>
            </a:pPr>
            <a:r>
              <a:rPr sz="1100">
                <a:solidFill>
                  <a:srgbClr val="0F172A"/>
                </a:solidFill>
              </a:rPr>
              <a:t>✅ Explainable Centrality Engine</a:t>
            </a:r>
          </a:p>
          <a:p>
            <a:pPr algn="l">
              <a:spcAft>
                <a:spcPts val="800"/>
              </a:spcAft>
            </a:pPr>
            <a:r>
              <a:rPr sz="1100">
                <a:solidFill>
                  <a:srgbClr val="0F172A"/>
                </a:solidFill>
              </a:rPr>
              <a:t>✅ Sec 65B/63 BSA Compliant</a:t>
            </a:r>
          </a:p>
          <a:p>
            <a:pPr algn="l">
              <a:spcAft>
                <a:spcPts val="800"/>
              </a:spcAft>
            </a:pPr>
            <a:r>
              <a:rPr sz="1100">
                <a:solidFill>
                  <a:srgbClr val="0F172A"/>
                </a:solidFill>
              </a:rPr>
              <a:t>✅ 140/140 Tested Pipeline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182880"/>
            <a:ext cx="11277295" cy="36576"/>
          </a:xfrm>
          <a:prstGeom prst="rect">
            <a:avLst/>
          </a:prstGeom>
          <a:solidFill>
            <a:srgbClr val="0284C7"/>
          </a:solidFill>
          <a:ln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320040"/>
            <a:ext cx="1645920" cy="502920"/>
          </a:xfrm>
          <a:prstGeom prst="roundRect">
            <a:avLst/>
          </a:prstGeom>
          <a:solidFill>
            <a:srgbClr val="EFF6FF"/>
          </a:solidFill>
          <a:ln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b="1" sz="1400">
                <a:solidFill>
                  <a:srgbClr val="0F2C59"/>
                </a:solidFill>
              </a:rPr>
              <a:t>Team TRACE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286000" y="274320"/>
            <a:ext cx="7619695" cy="6400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b="1" sz="2400">
                <a:solidFill>
                  <a:srgbClr val="0F2C59"/>
                </a:solidFill>
              </a:rPr>
              <a:t>AI-Powered Platform for Criminal Network Intelligence</a:t>
            </a:r>
          </a:p>
        </p:txBody>
      </p:sp>
      <p:sp>
        <p:nvSpPr>
          <p:cNvPr id="5" name="Rectangle 4"/>
          <p:cNvSpPr/>
          <p:nvPr/>
        </p:nvSpPr>
        <p:spPr>
          <a:xfrm>
            <a:off x="10149840" y="320040"/>
            <a:ext cx="1554480" cy="502920"/>
          </a:xfrm>
          <a:prstGeom prst="rect">
            <a:avLst/>
          </a:prstGeom>
          <a:solidFill>
            <a:srgbClr val="F8FAFC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b="1" sz="900">
                <a:solidFill>
                  <a:srgbClr val="0F2C59"/>
                </a:solidFill>
              </a:rPr>
              <a:t>SMART INDIA
HACKATHON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1127729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475569"/>
                </a:solidFill>
              </a:rPr>
              <a:t>@SIH Idea submission- Template  |  Slide 2 of 6  |  TRACE — Criminal Network Intelligence Platform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005840"/>
            <a:ext cx="3657600" cy="5303520"/>
          </a:xfrm>
          <a:prstGeom prst="roundRect">
            <a:avLst/>
          </a:prstGeom>
          <a:solidFill>
            <a:srgbClr val="F8FAFC"/>
          </a:solidFill>
          <a:ln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28600"/>
          <a:lstStyle/>
          <a:p>
            <a:pPr algn="ctr">
              <a:spcAft>
                <a:spcPts val="1200"/>
              </a:spcAft>
            </a:pPr>
            <a:r>
              <a:rPr b="1" sz="1600">
                <a:solidFill>
                  <a:srgbClr val="0F2C59"/>
                </a:solidFill>
              </a:rPr>
              <a:t>How to Address The Problem</a:t>
            </a:r>
          </a:p>
          <a:p>
            <a:pPr>
              <a:spcAft>
                <a:spcPts val="800"/>
              </a:spcAft>
            </a:pPr>
            <a:r>
              <a:rPr b="1" sz="1100">
                <a:solidFill>
                  <a:srgbClr val="0F2C59"/>
                </a:solidFill>
              </a:rPr>
              <a:t>• Eliminates Evidence Silos: </a:t>
            </a:r>
            <a:r>
              <a:rPr sz="1000">
                <a:solidFill>
                  <a:srgbClr val="475569"/>
                </a:solidFill>
              </a:rPr>
              <a:t>Ingests disparate FIRs, CDR telecom logs, Hawala banking records, and ANPR highway cameras into a unified investigation workspace.</a:t>
            </a:r>
          </a:p>
          <a:p>
            <a:pPr>
              <a:spcAft>
                <a:spcPts val="800"/>
              </a:spcAft>
            </a:pPr>
            <a:r>
              <a:rPr b="1" sz="1100">
                <a:solidFill>
                  <a:srgbClr val="0F2C59"/>
                </a:solidFill>
              </a:rPr>
              <a:t>• Unmasks 'Quiet Coordinators': </a:t>
            </a:r>
            <a:r>
              <a:rPr sz="1000">
                <a:solidFill>
                  <a:srgbClr val="475569"/>
                </a:solidFill>
              </a:rPr>
              <a:t>Low-profile kingpins rarely make direct calls; graph centrality identifies intermediaries who bridge disconnected criminal syndicates.</a:t>
            </a:r>
          </a:p>
          <a:p>
            <a:pPr>
              <a:spcAft>
                <a:spcPts val="800"/>
              </a:spcAft>
            </a:pPr>
            <a:r>
              <a:rPr b="1" sz="1100">
                <a:solidFill>
                  <a:srgbClr val="0F2C59"/>
                </a:solidFill>
              </a:rPr>
              <a:t>• Resolves Entity Disguises: </a:t>
            </a:r>
            <a:r>
              <a:rPr sz="1000">
                <a:solidFill>
                  <a:srgbClr val="475569"/>
                </a:solidFill>
              </a:rPr>
              <a:t>Multi-tier fuzzy matching and ML deduplication resolve phonetic aliases, burner phone mutations, and shell corporate fronts.</a:t>
            </a:r>
          </a:p>
          <a:p>
            <a:pPr>
              <a:spcAft>
                <a:spcPts val="800"/>
              </a:spcAft>
            </a:pPr>
            <a:r>
              <a:rPr b="1" sz="1100">
                <a:solidFill>
                  <a:srgbClr val="0F2C59"/>
                </a:solidFill>
              </a:rPr>
              <a:t>• Preserves Evidentiary Custody: </a:t>
            </a:r>
            <a:r>
              <a:rPr sz="1000">
                <a:solidFill>
                  <a:srgbClr val="475569"/>
                </a:solidFill>
              </a:rPr>
              <a:t>Computes byte-level SHA-256 cryptographic hashes upon file upload, ensuring verifiable courtroom admissibility under Indian law.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297680" y="1005840"/>
            <a:ext cx="3657600" cy="5303520"/>
          </a:xfrm>
          <a:prstGeom prst="roundRect">
            <a:avLst/>
          </a:prstGeom>
          <a:solidFill>
            <a:srgbClr val="F8FAFC"/>
          </a:solidFill>
          <a:ln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28600"/>
          <a:lstStyle/>
          <a:p>
            <a:pPr algn="ctr">
              <a:spcAft>
                <a:spcPts val="1200"/>
              </a:spcAft>
            </a:pPr>
            <a:r>
              <a:rPr b="1" sz="1600">
                <a:solidFill>
                  <a:srgbClr val="0F2C59"/>
                </a:solidFill>
              </a:rPr>
              <a:t>Innovation &amp; Uniqueness</a:t>
            </a:r>
          </a:p>
          <a:p>
            <a:pPr>
              <a:spcAft>
                <a:spcPts val="800"/>
              </a:spcAft>
            </a:pPr>
            <a:r>
              <a:rPr b="1" sz="1100">
                <a:solidFill>
                  <a:srgbClr val="D97706"/>
                </a:solidFill>
              </a:rPr>
              <a:t>⭐ Grounded Graph Intelligence
</a:t>
            </a:r>
            <a:r>
              <a:rPr sz="1000">
                <a:solidFill>
                  <a:srgbClr val="475569"/>
                </a:solidFill>
              </a:rPr>
              <a:t>Zero generative hallucinations; every edge strictly cites source document exhibits (FIR lines, CDR call rows, or wire receipts).</a:t>
            </a:r>
          </a:p>
          <a:p>
            <a:pPr>
              <a:spcAft>
                <a:spcPts val="800"/>
              </a:spcAft>
            </a:pPr>
            <a:r>
              <a:rPr b="1" sz="1100">
                <a:solidFill>
                  <a:srgbClr val="D97706"/>
                </a:solidFill>
              </a:rPr>
              <a:t>⭐ Objective Priority Calibration
</a:t>
            </a:r>
            <a:r>
              <a:rPr sz="1000">
                <a:solidFill>
                  <a:srgbClr val="475569"/>
                </a:solidFill>
              </a:rPr>
              <a:t>Evaluates Betweenness, Degree, and PageRank with Bayesian odds under Sec 161 CrPC / Sec 180 BNSS—strictly non-guilt framing.</a:t>
            </a:r>
          </a:p>
          <a:p>
            <a:pPr>
              <a:spcAft>
                <a:spcPts val="800"/>
              </a:spcAft>
            </a:pPr>
            <a:r>
              <a:rPr b="1" sz="1100">
                <a:solidFill>
                  <a:srgbClr val="D97706"/>
                </a:solidFill>
              </a:rPr>
              <a:t>⭐ Evidence-Led Interview Plans
</a:t>
            </a:r>
            <a:r>
              <a:rPr sz="1000">
                <a:solidFill>
                  <a:srgbClr val="475569"/>
                </a:solidFill>
              </a:rPr>
              <a:t>Generates non-leading interrogation strategies grounded in corroborated facts with mandatory Article 20(3) non-coercion notices.</a:t>
            </a:r>
          </a:p>
          <a:p>
            <a:pPr>
              <a:spcAft>
                <a:spcPts val="800"/>
              </a:spcAft>
            </a:pPr>
            <a:r>
              <a:rPr b="1" sz="1100">
                <a:solidFill>
                  <a:srgbClr val="D97706"/>
                </a:solidFill>
              </a:rPr>
              <a:t>⭐ Section 65B/63 BSA Dossier
</a:t>
            </a:r>
            <a:r>
              <a:rPr sz="1000">
                <a:solidFill>
                  <a:srgbClr val="475569"/>
                </a:solidFill>
              </a:rPr>
              <a:t>Automated cryptographic export compiles complete electronic evidence certificates ready for judicial scrutiny.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138160" y="1005840"/>
            <a:ext cx="3566160" cy="5303520"/>
          </a:xfrm>
          <a:prstGeom prst="roundRect">
            <a:avLst/>
          </a:prstGeom>
          <a:solidFill>
            <a:srgbClr val="F8FAFC"/>
          </a:solidFill>
          <a:ln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28600"/>
          <a:lstStyle/>
          <a:p>
            <a:pPr algn="ctr">
              <a:spcAft>
                <a:spcPts val="1200"/>
              </a:spcAft>
            </a:pPr>
            <a:r>
              <a:rPr b="1" sz="1600">
                <a:solidFill>
                  <a:srgbClr val="0F2C59"/>
                </a:solidFill>
              </a:rPr>
              <a:t>Proposed Solution</a:t>
            </a:r>
          </a:p>
          <a:p>
            <a:pPr>
              <a:spcAft>
                <a:spcPts val="600"/>
              </a:spcAft>
            </a:pPr>
            <a:r>
              <a:rPr b="1" sz="1000">
                <a:solidFill>
                  <a:srgbClr val="059669"/>
                </a:solidFill>
              </a:rPr>
              <a:t>✔ Universal Multi-Modal ETL: </a:t>
            </a:r>
            <a:r>
              <a:rPr sz="950">
                <a:solidFill>
                  <a:srgbClr val="475569"/>
                </a:solidFill>
              </a:rPr>
              <a:t>Extracts canonical entities from FIRs, CDRs, bank SWIFT transfers, and ANPR vehicle toll logs.</a:t>
            </a:r>
          </a:p>
          <a:p>
            <a:pPr>
              <a:spcAft>
                <a:spcPts val="600"/>
              </a:spcAft>
            </a:pPr>
            <a:r>
              <a:rPr b="1" sz="1000">
                <a:solidFill>
                  <a:srgbClr val="059669"/>
                </a:solidFill>
              </a:rPr>
              <a:t>✔ Interactive 2D/3D Canvas: </a:t>
            </a:r>
            <a:r>
              <a:rPr sz="950">
                <a:solidFill>
                  <a:srgbClr val="475569"/>
                </a:solidFill>
              </a:rPr>
              <a:t>Force-directed graph rendering with community clustering, Dijkstra shortest-path, and ego-networks.</a:t>
            </a:r>
          </a:p>
          <a:p>
            <a:pPr>
              <a:spcAft>
                <a:spcPts val="600"/>
              </a:spcAft>
            </a:pPr>
            <a:r>
              <a:rPr b="1" sz="1000">
                <a:solidFill>
                  <a:srgbClr val="059669"/>
                </a:solidFill>
              </a:rPr>
              <a:t>✔ Topological Link Prediction: </a:t>
            </a:r>
            <a:r>
              <a:rPr sz="950">
                <a:solidFill>
                  <a:srgbClr val="475569"/>
                </a:solidFill>
              </a:rPr>
              <a:t>Adamic-Adar and XGBoost algorithms predict unobserved syndicate linkages before suspect evasion.</a:t>
            </a:r>
          </a:p>
          <a:p>
            <a:pPr>
              <a:spcAft>
                <a:spcPts val="600"/>
              </a:spcAft>
            </a:pPr>
            <a:r>
              <a:rPr b="1" sz="1000">
                <a:solidFill>
                  <a:srgbClr val="059669"/>
                </a:solidFill>
              </a:rPr>
              <a:t>✔ Forensic Anomaly Scanner: </a:t>
            </a:r>
            <a:r>
              <a:rPr sz="950">
                <a:solidFill>
                  <a:srgbClr val="475569"/>
                </a:solidFill>
              </a:rPr>
              <a:t>Isolation Forest models flag midnight calling spikes, Hawala smurfing, and geographic velocity jumps.</a:t>
            </a:r>
          </a:p>
          <a:p>
            <a:pPr>
              <a:spcAft>
                <a:spcPts val="600"/>
              </a:spcAft>
            </a:pPr>
            <a:r>
              <a:rPr b="1" sz="1000">
                <a:solidFill>
                  <a:srgbClr val="059669"/>
                </a:solidFill>
              </a:rPr>
              <a:t>✔ 4D Temporal &amp; Geo Radar: </a:t>
            </a:r>
            <a:r>
              <a:rPr sz="950">
                <a:solidFill>
                  <a:srgbClr val="475569"/>
                </a:solidFill>
              </a:rPr>
              <a:t>Correlates tower handshakes, toll timestamps, and money transfers across space and chronological time.</a:t>
            </a:r>
          </a:p>
          <a:p>
            <a:pPr>
              <a:spcAft>
                <a:spcPts val="600"/>
              </a:spcAft>
            </a:pPr>
            <a:r>
              <a:rPr b="1" sz="1000">
                <a:solidFill>
                  <a:srgbClr val="059669"/>
                </a:solidFill>
              </a:rPr>
              <a:t>✔ Judicial Chargesheet Exporter: </a:t>
            </a:r>
            <a:r>
              <a:rPr sz="950">
                <a:solidFill>
                  <a:srgbClr val="475569"/>
                </a:solidFill>
              </a:rPr>
              <a:t>Generates tamper-evident Section 65B PDF dossiers with cryptographic verification hashes.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182880"/>
            <a:ext cx="11277295" cy="36576"/>
          </a:xfrm>
          <a:prstGeom prst="rect">
            <a:avLst/>
          </a:prstGeom>
          <a:solidFill>
            <a:srgbClr val="0284C7"/>
          </a:solidFill>
          <a:ln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320040"/>
            <a:ext cx="1645920" cy="502920"/>
          </a:xfrm>
          <a:prstGeom prst="roundRect">
            <a:avLst/>
          </a:prstGeom>
          <a:solidFill>
            <a:srgbClr val="EFF6FF"/>
          </a:solidFill>
          <a:ln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b="1" sz="1400">
                <a:solidFill>
                  <a:srgbClr val="0F2C59"/>
                </a:solidFill>
              </a:rPr>
              <a:t>Team TRACE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286000" y="274320"/>
            <a:ext cx="7619695" cy="6400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b="1" sz="2400">
                <a:solidFill>
                  <a:srgbClr val="0F2C59"/>
                </a:solidFill>
              </a:rPr>
              <a:t>TECHNICAL APPROACH &amp; SYSTEM ARCHITECTURE</a:t>
            </a:r>
          </a:p>
        </p:txBody>
      </p:sp>
      <p:sp>
        <p:nvSpPr>
          <p:cNvPr id="5" name="Rectangle 4"/>
          <p:cNvSpPr/>
          <p:nvPr/>
        </p:nvSpPr>
        <p:spPr>
          <a:xfrm>
            <a:off x="10149840" y="320040"/>
            <a:ext cx="1554480" cy="502920"/>
          </a:xfrm>
          <a:prstGeom prst="rect">
            <a:avLst/>
          </a:prstGeom>
          <a:solidFill>
            <a:srgbClr val="F8FAFC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b="1" sz="900">
                <a:solidFill>
                  <a:srgbClr val="0F2C59"/>
                </a:solidFill>
              </a:rPr>
              <a:t>SMART INDIA
HACKATHON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1127729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475569"/>
                </a:solidFill>
              </a:rPr>
              <a:t>@SIH Idea submission- Template  |  Slide 3 of 6  |  TRACE — Criminal Network Intelligence Platform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005840"/>
            <a:ext cx="7589520" cy="5303520"/>
          </a:xfrm>
          <a:prstGeom prst="roundRect">
            <a:avLst/>
          </a:prstGeom>
          <a:solidFill>
            <a:srgbClr val="F8FAFC"/>
          </a:solidFill>
          <a:ln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82880"/>
          <a:lstStyle/>
          <a:p>
            <a:pPr algn="l"/>
            <a:r>
              <a:rPr b="1" sz="1500">
                <a:solidFill>
                  <a:srgbClr val="0F2C59"/>
                </a:solidFill>
              </a:rPr>
              <a:t>End-to-End Multi-Modal Graph Pipeline</a:t>
            </a:r>
          </a:p>
          <a:p>
            <a:pPr>
              <a:spcBef>
                <a:spcPts val="400"/>
              </a:spcBef>
            </a:pPr>
            <a:r>
              <a:rPr b="1" sz="1100">
                <a:solidFill>
                  <a:srgbClr val="0284C7"/>
                </a:solidFill>
              </a:rPr>
              <a:t>▶ Layer 1: Universal Multi-Modal Ingestion &amp; Checksum</a:t>
            </a:r>
          </a:p>
          <a:p>
            <a:pPr>
              <a:spcAft>
                <a:spcPts val="400"/>
              </a:spcAft>
            </a:pPr>
            <a:r>
              <a:rPr sz="950">
                <a:solidFill>
                  <a:srgbClr val="0F172A"/>
                </a:solidFill>
              </a:rPr>
              <a:t>• Ingests text FIRs, telecom CDR CSVs, banking JSONs, ANPR logs, and court chargesheets.
• Generates byte-level SHA-256 cryptographic hashes immediately upon ingestion.
• Heuristic + TF-IDF routing eliminates file misclassification.</a:t>
            </a:r>
          </a:p>
          <a:p>
            <a:pPr>
              <a:spcBef>
                <a:spcPts val="400"/>
              </a:spcBef>
            </a:pPr>
            <a:r>
              <a:rPr b="1" sz="1100">
                <a:solidFill>
                  <a:srgbClr val="0284C7"/>
                </a:solidFill>
              </a:rPr>
              <a:t>▶ Layer 2: Entity Extraction &amp; Resolution (De-Aliasing)</a:t>
            </a:r>
          </a:p>
          <a:p>
            <a:pPr>
              <a:spcAft>
                <a:spcPts val="400"/>
              </a:spcAft>
            </a:pPr>
            <a:r>
              <a:rPr sz="950">
                <a:solidFill>
                  <a:srgbClr val="0F172A"/>
                </a:solidFill>
              </a:rPr>
              <a:t>• Scans phone numbers, vehicles, bank accounts, facilities, and strict TitleCase suspect names.
• Jaro-Winkler token distance &amp; XGBoost classify candidate duplicate pairs.
• Preserves candidate duplicates as 'Possible Duplicates' rather than destructive merges.</a:t>
            </a:r>
          </a:p>
          <a:p>
            <a:pPr>
              <a:spcBef>
                <a:spcPts val="400"/>
              </a:spcBef>
            </a:pPr>
            <a:r>
              <a:rPr b="1" sz="1100">
                <a:solidFill>
                  <a:srgbClr val="0284C7"/>
                </a:solidFill>
              </a:rPr>
              <a:t>▶ Layer 3: Dual-Tier Graph &amp; Relational Core</a:t>
            </a:r>
          </a:p>
          <a:p>
            <a:pPr>
              <a:spcAft>
                <a:spcPts val="400"/>
              </a:spcAft>
            </a:pPr>
            <a:r>
              <a:rPr sz="950">
                <a:solidFill>
                  <a:srgbClr val="0F172A"/>
                </a:solidFill>
              </a:rPr>
              <a:t>• In-memory NetworkX repository for sub-millisecond graph traversals and path-finding.
• Embedded SQLite database in WAL (Write-Ahead Logging) mode for persistent multi-case storage.
• 100% local-first deployment with zero external internet dependencies.</a:t>
            </a:r>
          </a:p>
          <a:p>
            <a:pPr>
              <a:spcBef>
                <a:spcPts val="400"/>
              </a:spcBef>
            </a:pPr>
            <a:r>
              <a:rPr b="1" sz="1100">
                <a:solidFill>
                  <a:srgbClr val="0284C7"/>
                </a:solidFill>
              </a:rPr>
              <a:t>▶ Layer 4: Topological Graph Analytics &amp; ML Engines</a:t>
            </a:r>
          </a:p>
          <a:p>
            <a:pPr>
              <a:spcAft>
                <a:spcPts val="400"/>
              </a:spcAft>
            </a:pPr>
            <a:r>
              <a:rPr sz="950">
                <a:solidFill>
                  <a:srgbClr val="0F172A"/>
                </a:solidFill>
              </a:rPr>
              <a:t>• Degree Centrality (activity hub), Betweenness Centrality (syndicate broker/bridge), PageRank.
• Greedy Modularity Community Detection partitions operational cells (Logistics vs Finance).
• Unsupervised Isolation Forest flags smurfed Hawala wires and midnight tower surges.</a:t>
            </a:r>
          </a:p>
          <a:p>
            <a:pPr>
              <a:spcBef>
                <a:spcPts val="400"/>
              </a:spcBef>
            </a:pPr>
            <a:r>
              <a:rPr b="1" sz="1100">
                <a:solidFill>
                  <a:srgbClr val="0284C7"/>
                </a:solidFill>
              </a:rPr>
              <a:t>▶ Layer 5: Decision-Support, Simulation &amp; Courtroom Export</a:t>
            </a:r>
          </a:p>
          <a:p>
            <a:pPr>
              <a:spcAft>
                <a:spcPts val="400"/>
              </a:spcAft>
            </a:pPr>
            <a:r>
              <a:rPr sz="950">
                <a:solidFill>
                  <a:srgbClr val="0F172A"/>
                </a:solidFill>
              </a:rPr>
              <a:t>• Bayesian Belief Network updates prior odds with likelihood ratios from real graph edges.
• Dynamic Interrogation Simulator selects behavioral stress baselines from incident edges.
• Section 65B IEA / Section 63 BSA electronic evidence PDF chargesheet compiler.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0" y="1005840"/>
            <a:ext cx="3474720" cy="5303520"/>
          </a:xfrm>
          <a:prstGeom prst="roundRect">
            <a:avLst/>
          </a:prstGeom>
          <a:solidFill>
            <a:srgbClr val="EFF6FF"/>
          </a:solidFill>
          <a:ln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182880"/>
          <a:lstStyle/>
          <a:p>
            <a:pPr algn="ctr"/>
            <a:r>
              <a:rPr b="1" sz="1600">
                <a:solidFill>
                  <a:srgbClr val="0F2C59"/>
                </a:solidFill>
              </a:rPr>
              <a:t>TECH STACK</a:t>
            </a:r>
          </a:p>
          <a:p>
            <a:pPr>
              <a:spcAft>
                <a:spcPts val="600"/>
              </a:spcAft>
            </a:pPr>
            <a:r>
              <a:rPr b="1" sz="1000">
                <a:solidFill>
                  <a:srgbClr val="0F2C59"/>
                </a:solidFill>
              </a:rPr>
              <a:t>• API Framework
</a:t>
            </a:r>
            <a:r>
              <a:rPr sz="950">
                <a:solidFill>
                  <a:srgbClr val="475569"/>
                </a:solidFill>
              </a:rPr>
              <a:t>   FastAPI (Async Python 3.13), Uvicorn</a:t>
            </a:r>
          </a:p>
          <a:p>
            <a:pPr>
              <a:spcAft>
                <a:spcPts val="600"/>
              </a:spcAft>
            </a:pPr>
            <a:r>
              <a:rPr b="1" sz="1000">
                <a:solidFill>
                  <a:srgbClr val="0F2C59"/>
                </a:solidFill>
              </a:rPr>
              <a:t>• Frontend UI
</a:t>
            </a:r>
            <a:r>
              <a:rPr sz="950">
                <a:solidFill>
                  <a:srgbClr val="475569"/>
                </a:solidFill>
              </a:rPr>
              <a:t>   React 18, TypeScript, Vite, Tailwind CSS</a:t>
            </a:r>
          </a:p>
          <a:p>
            <a:pPr>
              <a:spcAft>
                <a:spcPts val="600"/>
              </a:spcAft>
            </a:pPr>
            <a:r>
              <a:rPr b="1" sz="1000">
                <a:solidFill>
                  <a:srgbClr val="0F2C59"/>
                </a:solidFill>
              </a:rPr>
              <a:t>• Graph Visuals
</a:t>
            </a:r>
            <a:r>
              <a:rPr sz="950">
                <a:solidFill>
                  <a:srgbClr val="475569"/>
                </a:solidFill>
              </a:rPr>
              <a:t>   Cytoscape.js, Three.js WebGL (3D Canvas)</a:t>
            </a:r>
          </a:p>
          <a:p>
            <a:pPr>
              <a:spcAft>
                <a:spcPts val="600"/>
              </a:spcAft>
            </a:pPr>
            <a:r>
              <a:rPr b="1" sz="1000">
                <a:solidFill>
                  <a:srgbClr val="0F2C59"/>
                </a:solidFill>
              </a:rPr>
              <a:t>• Graph Analytics
</a:t>
            </a:r>
            <a:r>
              <a:rPr sz="950">
                <a:solidFill>
                  <a:srgbClr val="475569"/>
                </a:solidFill>
              </a:rPr>
              <a:t>   NetworkX 3.x, NumPy, SciPy</a:t>
            </a:r>
          </a:p>
          <a:p>
            <a:pPr>
              <a:spcAft>
                <a:spcPts val="600"/>
              </a:spcAft>
            </a:pPr>
            <a:r>
              <a:rPr b="1" sz="1000">
                <a:solidFill>
                  <a:srgbClr val="0F2C59"/>
                </a:solidFill>
              </a:rPr>
              <a:t>• Machine Learning
</a:t>
            </a:r>
            <a:r>
              <a:rPr sz="950">
                <a:solidFill>
                  <a:srgbClr val="475569"/>
                </a:solidFill>
              </a:rPr>
              <a:t>   Scikit-learn, XGBoost (Link Prediction)</a:t>
            </a:r>
          </a:p>
          <a:p>
            <a:pPr>
              <a:spcAft>
                <a:spcPts val="600"/>
              </a:spcAft>
            </a:pPr>
            <a:r>
              <a:rPr b="1" sz="1000">
                <a:solidFill>
                  <a:srgbClr val="0F2C59"/>
                </a:solidFill>
              </a:rPr>
              <a:t>• Anomaly Scanner
</a:t>
            </a:r>
            <a:r>
              <a:rPr sz="950">
                <a:solidFill>
                  <a:srgbClr val="475569"/>
                </a:solidFill>
              </a:rPr>
              <a:t>   Isolation Forest (Unsupervised)</a:t>
            </a:r>
          </a:p>
          <a:p>
            <a:pPr>
              <a:spcAft>
                <a:spcPts val="600"/>
              </a:spcAft>
            </a:pPr>
            <a:r>
              <a:rPr b="1" sz="1000">
                <a:solidFill>
                  <a:srgbClr val="0F2C59"/>
                </a:solidFill>
              </a:rPr>
              <a:t>• Database / Auth
</a:t>
            </a:r>
            <a:r>
              <a:rPr sz="950">
                <a:solidFill>
                  <a:srgbClr val="475569"/>
                </a:solidFill>
              </a:rPr>
              <a:t>   SQLite 3 (WAL Mode), Python-Jose</a:t>
            </a:r>
          </a:p>
          <a:p>
            <a:pPr>
              <a:spcAft>
                <a:spcPts val="600"/>
              </a:spcAft>
            </a:pPr>
            <a:r>
              <a:rPr b="1" sz="1000">
                <a:solidFill>
                  <a:srgbClr val="0F2C59"/>
                </a:solidFill>
              </a:rPr>
              <a:t>• Evidence Export
</a:t>
            </a:r>
            <a:r>
              <a:rPr sz="950">
                <a:solidFill>
                  <a:srgbClr val="475569"/>
                </a:solidFill>
              </a:rPr>
              <a:t>   ReportLab PDF, SHA-256 Checksums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182880"/>
            <a:ext cx="11277295" cy="36576"/>
          </a:xfrm>
          <a:prstGeom prst="rect">
            <a:avLst/>
          </a:prstGeom>
          <a:solidFill>
            <a:srgbClr val="0284C7"/>
          </a:solidFill>
          <a:ln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320040"/>
            <a:ext cx="1645920" cy="502920"/>
          </a:xfrm>
          <a:prstGeom prst="roundRect">
            <a:avLst/>
          </a:prstGeom>
          <a:solidFill>
            <a:srgbClr val="EFF6FF"/>
          </a:solidFill>
          <a:ln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b="1" sz="1400">
                <a:solidFill>
                  <a:srgbClr val="0F2C59"/>
                </a:solidFill>
              </a:rPr>
              <a:t>Team TRACE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286000" y="274320"/>
            <a:ext cx="7619695" cy="6400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b="1" sz="2400">
                <a:solidFill>
                  <a:srgbClr val="0F2C59"/>
                </a:solidFill>
              </a:rPr>
              <a:t>FEASIBILITY AND VIABILITY</a:t>
            </a:r>
          </a:p>
        </p:txBody>
      </p:sp>
      <p:sp>
        <p:nvSpPr>
          <p:cNvPr id="5" name="Rectangle 4"/>
          <p:cNvSpPr/>
          <p:nvPr/>
        </p:nvSpPr>
        <p:spPr>
          <a:xfrm>
            <a:off x="10149840" y="320040"/>
            <a:ext cx="1554480" cy="502920"/>
          </a:xfrm>
          <a:prstGeom prst="rect">
            <a:avLst/>
          </a:prstGeom>
          <a:solidFill>
            <a:srgbClr val="F8FAFC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b="1" sz="900">
                <a:solidFill>
                  <a:srgbClr val="0F2C59"/>
                </a:solidFill>
              </a:rPr>
              <a:t>SMART INDIA
HACKATHON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1127729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475569"/>
                </a:solidFill>
              </a:rPr>
              <a:t>@SIH Idea submission- Template  |  Slide 4 of 6  |  TRACE — Criminal Network Intelligence Platform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457200" y="1005840"/>
          <a:ext cx="7132320" cy="5303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/>
                <a:gridCol w="5120640"/>
              </a:tblGrid>
              <a:tr h="883920">
                <a:tc>
                  <a:txBody>
                    <a:bodyPr/>
                    <a:lstStyle/>
                    <a:p>
                      <a:pPr algn="ctr"/>
                      <a:r>
                        <a:rPr b="1" sz="1200">
                          <a:solidFill>
                            <a:srgbClr val="FFFFFF"/>
                          </a:solidFill>
                        </a:rPr>
                        <a:t>Feasibility Dimension</a:t>
                      </a:r>
                    </a:p>
                  </a:txBody>
                  <a:tcPr>
                    <a:solidFill>
                      <a:srgbClr val="0F2C5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200">
                          <a:solidFill>
                            <a:srgbClr val="FFFFFF"/>
                          </a:solidFill>
                        </a:rPr>
                        <a:t>Operational Solution in TRACE</a:t>
                      </a:r>
                    </a:p>
                  </a:txBody>
                  <a:tcPr>
                    <a:solidFill>
                      <a:srgbClr val="0F2C59"/>
                    </a:solidFill>
                  </a:tcPr>
                </a:tc>
              </a:tr>
              <a:tr h="883920">
                <a:tc>
                  <a:txBody>
                    <a:bodyPr/>
                    <a:lstStyle/>
                    <a:p>
                      <a:pPr algn="ctr"/>
                      <a:r>
                        <a:rPr b="1" sz="1100">
                          <a:solidFill>
                            <a:srgbClr val="0F2C59"/>
                          </a:solidFill>
                        </a:rPr>
                        <a:t>Technical
Feasibility</a:t>
                      </a:r>
                    </a:p>
                  </a:txBody>
                  <a:tcPr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>
                          <a:solidFill>
                            <a:srgbClr val="0F172A"/>
                          </a:solidFill>
                        </a:rPr>
                        <a:t>• Zero-GPU, local-first design; runs on standard precinct PC (Core i5, 8GB RAM).
• NetworkX + SQLite WAL executes sub-second queries on 10,000+ nodes.
• Tested with 140 automated integration &amp; stress unit tests (100% passing).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883920">
                <a:tc>
                  <a:txBody>
                    <a:bodyPr/>
                    <a:lstStyle/>
                    <a:p>
                      <a:pPr algn="ctr"/>
                      <a:r>
                        <a:rPr b="1" sz="1100">
                          <a:solidFill>
                            <a:srgbClr val="0F2C59"/>
                          </a:solidFill>
                        </a:rPr>
                        <a:t>Operational
Feasibility</a:t>
                      </a:r>
                    </a:p>
                  </a:txBody>
                  <a:tcPr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>
                          <a:solidFill>
                            <a:srgbClr val="0F172A"/>
                          </a:solidFill>
                        </a:rPr>
                        <a:t>• Zero-installation web UI fits directly into police investigation workflows.
• Eliminates days of manual cross-referencing between CDRs and bank ledgers.
• Direct integration roadmap with CCTNS, ICJS, and state police cyber cells.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883920">
                <a:tc>
                  <a:txBody>
                    <a:bodyPr/>
                    <a:lstStyle/>
                    <a:p>
                      <a:pPr algn="ctr"/>
                      <a:r>
                        <a:rPr b="1" sz="1100">
                          <a:solidFill>
                            <a:srgbClr val="0F2C59"/>
                          </a:solidFill>
                        </a:rPr>
                        <a:t>Economic
Feasibility</a:t>
                      </a:r>
                    </a:p>
                  </a:txBody>
                  <a:tcPr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>
                          <a:solidFill>
                            <a:srgbClr val="0F172A"/>
                          </a:solidFill>
                        </a:rPr>
                        <a:t>• 100% open-source core stack (Python, FastAPI, SQLite, React).
• Eliminates multi-lakh annual licensing fees of foreign intelligence software.
• Long-term maintenance costs justified for government &amp; law enforcement.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883920">
                <a:tc>
                  <a:txBody>
                    <a:bodyPr/>
                    <a:lstStyle/>
                    <a:p>
                      <a:pPr algn="ctr"/>
                      <a:r>
                        <a:rPr b="1" sz="1100">
                          <a:solidFill>
                            <a:srgbClr val="0F2C59"/>
                          </a:solidFill>
                        </a:rPr>
                        <a:t>Scalability
Feasibility</a:t>
                      </a:r>
                    </a:p>
                  </a:txBody>
                  <a:tcPr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>
                          <a:solidFill>
                            <a:srgbClr val="0F172A"/>
                          </a:solidFill>
                        </a:rPr>
                        <a:t>• Handles complex syndicates locally with depth-limited ego-network filters.
• Modular decoupled architecture supports migration to Neo4j cluster.
• Multi-case isolation allows parallel operations without data cross-talk.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883920">
                <a:tc>
                  <a:txBody>
                    <a:bodyPr/>
                    <a:lstStyle/>
                    <a:p>
                      <a:pPr algn="ctr"/>
                      <a:r>
                        <a:rPr b="1" sz="1100">
                          <a:solidFill>
                            <a:srgbClr val="0F2C59"/>
                          </a:solidFill>
                        </a:rPr>
                        <a:t>Legal &amp; Privacy
Feasibility</a:t>
                      </a:r>
                    </a:p>
                  </a:txBody>
                  <a:tcPr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>
                          <a:solidFill>
                            <a:srgbClr val="0F172A"/>
                          </a:solidFill>
                        </a:rPr>
                        <a:t>• Strictly compliant with Bharatiya Sakshya Adhiniyam (BSA 2023) Sec 63.
• Aligns with BNSS Sec 180 / CrPC Sec 161 and Article 20(3) non-coercion.
• Ingested files never leave precinct hardware; zero third-party cloud leaks.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</a:tbl>
          </a:graphicData>
        </a:graphic>
      </p:graphicFrame>
      <p:sp>
        <p:nvSpPr>
          <p:cNvPr id="8" name="Rounded Rectangle 7"/>
          <p:cNvSpPr/>
          <p:nvPr/>
        </p:nvSpPr>
        <p:spPr>
          <a:xfrm>
            <a:off x="7772400" y="1005840"/>
            <a:ext cx="3931920" cy="5303520"/>
          </a:xfrm>
          <a:prstGeom prst="roundRect">
            <a:avLst/>
          </a:prstGeom>
          <a:solidFill>
            <a:srgbClr val="F8FAFC"/>
          </a:solidFill>
          <a:ln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82880"/>
          <a:lstStyle/>
          <a:p>
            <a:pPr algn="ctr"/>
            <a:r>
              <a:rPr b="1" sz="1500">
                <a:solidFill>
                  <a:srgbClr val="0F2C59"/>
                </a:solidFill>
              </a:rPr>
              <a:t>Challenges &amp; Viability Pillars</a:t>
            </a:r>
          </a:p>
          <a:p>
            <a:pPr>
              <a:spcBef>
                <a:spcPts val="400"/>
              </a:spcBef>
            </a:pPr>
            <a:r>
              <a:rPr b="1" sz="1050">
                <a:solidFill>
                  <a:srgbClr val="0284C7"/>
                </a:solidFill>
              </a:rPr>
              <a:t>📌 Challenge: Messy / Inconsistent Records
</a:t>
            </a:r>
            <a:r>
              <a:rPr sz="950">
                <a:solidFill>
                  <a:srgbClr val="475569"/>
                </a:solidFill>
              </a:rPr>
              <a:t>Regex normalizers, heuristic aliases, and phonetic string matching resolve scanned text and informal names before ingestion.</a:t>
            </a:r>
          </a:p>
          <a:p>
            <a:pPr>
              <a:spcBef>
                <a:spcPts val="400"/>
              </a:spcBef>
            </a:pPr>
            <a:r>
              <a:rPr b="1" sz="1050">
                <a:solidFill>
                  <a:srgbClr val="0284C7"/>
                </a:solidFill>
              </a:rPr>
              <a:t>📌 Challenge: Risk of Automation Bias
</a:t>
            </a:r>
            <a:r>
              <a:rPr sz="950">
                <a:solidFill>
                  <a:srgbClr val="475569"/>
                </a:solidFill>
              </a:rPr>
              <a:t>Every metric is labeled 'Investigative Priority' under human review; TRACE never generates automated guilt tags or warrants.</a:t>
            </a:r>
          </a:p>
          <a:p>
            <a:pPr>
              <a:spcBef>
                <a:spcPts val="400"/>
              </a:spcBef>
            </a:pPr>
            <a:r>
              <a:rPr b="1" sz="1050">
                <a:solidFill>
                  <a:srgbClr val="0284C7"/>
                </a:solidFill>
              </a:rPr>
              <a:t>📌 Viability: District-by-District Adoption
</a:t>
            </a:r>
            <a:r>
              <a:rPr sz="950">
                <a:solidFill>
                  <a:srgbClr val="475569"/>
                </a:solidFill>
              </a:rPr>
              <a:t>Deployable as a lightweight Docker container or standalone desktop app without waiting for nationwide infrastructure overhauls.</a:t>
            </a:r>
          </a:p>
          <a:p>
            <a:pPr>
              <a:spcBef>
                <a:spcPts val="400"/>
              </a:spcBef>
            </a:pPr>
            <a:r>
              <a:rPr b="1" sz="1050">
                <a:solidFill>
                  <a:srgbClr val="0284C7"/>
                </a:solidFill>
              </a:rPr>
              <a:t>📌 Viability: Budget Sustainability
</a:t>
            </a:r>
            <a:r>
              <a:rPr sz="950">
                <a:solidFill>
                  <a:srgbClr val="475569"/>
                </a:solidFill>
              </a:rPr>
              <a:t>Zero cloud API fees, zero per-seat licensing. One server serves an entire precinct or Special Investigation Team (SIT).</a:t>
            </a:r>
          </a:p>
          <a:p>
            <a:pPr>
              <a:spcBef>
                <a:spcPts val="400"/>
              </a:spcBef>
            </a:pPr>
            <a:r>
              <a:rPr b="1" sz="1050">
                <a:solidFill>
                  <a:srgbClr val="0284C7"/>
                </a:solidFill>
              </a:rPr>
              <a:t>📌 Viability: Judicial Alignment
</a:t>
            </a:r>
            <a:r>
              <a:rPr sz="950">
                <a:solidFill>
                  <a:srgbClr val="475569"/>
                </a:solidFill>
              </a:rPr>
              <a:t>Automatic generation of Section 65B certificates guarantees prosecution readiness from Day 1 of the investigation.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182880"/>
            <a:ext cx="11277295" cy="36576"/>
          </a:xfrm>
          <a:prstGeom prst="rect">
            <a:avLst/>
          </a:prstGeom>
          <a:solidFill>
            <a:srgbClr val="0284C7"/>
          </a:solidFill>
          <a:ln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320040"/>
            <a:ext cx="1645920" cy="502920"/>
          </a:xfrm>
          <a:prstGeom prst="roundRect">
            <a:avLst/>
          </a:prstGeom>
          <a:solidFill>
            <a:srgbClr val="EFF6FF"/>
          </a:solidFill>
          <a:ln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b="1" sz="1400">
                <a:solidFill>
                  <a:srgbClr val="0F2C59"/>
                </a:solidFill>
              </a:rPr>
              <a:t>Team TRACE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286000" y="274320"/>
            <a:ext cx="7619695" cy="6400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b="1" sz="2400">
                <a:solidFill>
                  <a:srgbClr val="0F2C59"/>
                </a:solidFill>
              </a:rPr>
              <a:t>IMPACT AND BENEFITS</a:t>
            </a:r>
          </a:p>
        </p:txBody>
      </p:sp>
      <p:sp>
        <p:nvSpPr>
          <p:cNvPr id="5" name="Rectangle 4"/>
          <p:cNvSpPr/>
          <p:nvPr/>
        </p:nvSpPr>
        <p:spPr>
          <a:xfrm>
            <a:off x="10149840" y="320040"/>
            <a:ext cx="1554480" cy="502920"/>
          </a:xfrm>
          <a:prstGeom prst="rect">
            <a:avLst/>
          </a:prstGeom>
          <a:solidFill>
            <a:srgbClr val="F8FAFC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b="1" sz="900">
                <a:solidFill>
                  <a:srgbClr val="0F2C59"/>
                </a:solidFill>
              </a:rPr>
              <a:t>SMART INDIA
HACKATHON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1127729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475569"/>
                </a:solidFill>
              </a:rPr>
              <a:t>@SIH Idea submission- Template  |  Slide 5 of 6  |  TRACE — Criminal Network Intelligence Platform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005840"/>
            <a:ext cx="2697480" cy="1005840"/>
          </a:xfrm>
          <a:prstGeom prst="roundRect">
            <a:avLst/>
          </a:prstGeom>
          <a:solidFill>
            <a:srgbClr val="EFF6FF"/>
          </a:solidFill>
          <a:ln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b="1" sz="1700">
                <a:solidFill>
                  <a:srgbClr val="0284C7"/>
                </a:solidFill>
              </a:rPr>
              <a:t>⚡ 95% Faster</a:t>
            </a:r>
          </a:p>
          <a:p>
            <a:pPr algn="ctr"/>
            <a:r>
              <a:rPr sz="950">
                <a:solidFill>
                  <a:srgbClr val="475569"/>
                </a:solidFill>
              </a:rPr>
              <a:t>Investigation Acceleration
(Minutes vs Days)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291840" y="1005840"/>
            <a:ext cx="2697480" cy="1005840"/>
          </a:xfrm>
          <a:prstGeom prst="roundRect">
            <a:avLst/>
          </a:prstGeom>
          <a:solidFill>
            <a:srgbClr val="EFF6FF"/>
          </a:solidFill>
          <a:ln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b="1" sz="1700">
                <a:solidFill>
                  <a:srgbClr val="0284C7"/>
                </a:solidFill>
              </a:rPr>
              <a:t>🔍 Multi-Source</a:t>
            </a:r>
          </a:p>
          <a:p>
            <a:pPr algn="ctr"/>
            <a:r>
              <a:rPr sz="950">
                <a:solidFill>
                  <a:srgbClr val="475569"/>
                </a:solidFill>
              </a:rPr>
              <a:t>Corroboration Nexus
(FIR+CDR+Bank+ANPR)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26480" y="1005840"/>
            <a:ext cx="2697480" cy="1005840"/>
          </a:xfrm>
          <a:prstGeom prst="roundRect">
            <a:avLst/>
          </a:prstGeom>
          <a:solidFill>
            <a:srgbClr val="EFF6FF"/>
          </a:solidFill>
          <a:ln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b="1" sz="1700">
                <a:solidFill>
                  <a:srgbClr val="0284C7"/>
                </a:solidFill>
              </a:rPr>
              <a:t>🎯 0% Black-Box</a:t>
            </a:r>
          </a:p>
          <a:p>
            <a:pPr algn="ctr"/>
            <a:r>
              <a:rPr sz="950">
                <a:solidFill>
                  <a:srgbClr val="475569"/>
                </a:solidFill>
              </a:rPr>
              <a:t>100% Grounded Leads
(Strict Exhibit Citations)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961120" y="1005840"/>
            <a:ext cx="2697480" cy="1005840"/>
          </a:xfrm>
          <a:prstGeom prst="roundRect">
            <a:avLst/>
          </a:prstGeom>
          <a:solidFill>
            <a:srgbClr val="EFF6FF"/>
          </a:solidFill>
          <a:ln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b="1" sz="1700">
                <a:solidFill>
                  <a:srgbClr val="0284C7"/>
                </a:solidFill>
              </a:rPr>
              <a:t>⚖️ Court-Ready</a:t>
            </a:r>
          </a:p>
          <a:p>
            <a:pPr algn="ctr"/>
            <a:r>
              <a:rPr sz="950">
                <a:solidFill>
                  <a:srgbClr val="475569"/>
                </a:solidFill>
              </a:rPr>
              <a:t>Sec 65B/63 BSA Compliant
(Cryptographic Proof)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2194560"/>
            <a:ext cx="4114800" cy="4114800"/>
          </a:xfrm>
          <a:prstGeom prst="roundRect">
            <a:avLst/>
          </a:prstGeom>
          <a:solidFill>
            <a:srgbClr val="F8FAFC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182880"/>
          <a:lstStyle/>
          <a:p>
            <a:pPr algn="ctr"/>
            <a:r>
              <a:rPr b="1" sz="1400">
                <a:solidFill>
                  <a:srgbClr val="0F2C59"/>
                </a:solidFill>
              </a:rPr>
              <a:t>Estimated Budget &amp; Allocation</a:t>
            </a:r>
          </a:p>
          <a:p>
            <a:pPr algn="ctr">
              <a:spcAft>
                <a:spcPts val="1000"/>
              </a:spcAft>
            </a:pPr>
            <a:r>
              <a:rPr b="1" sz="1100">
                <a:solidFill>
                  <a:srgbClr val="D97706"/>
                </a:solidFill>
              </a:rPr>
              <a:t>Estimated Phase 1 Budget: ₹10,00,000 – ₹18,00,000</a:t>
            </a:r>
          </a:p>
          <a:p>
            <a:pPr>
              <a:spcAft>
                <a:spcPts val="400"/>
              </a:spcAft>
            </a:pPr>
            <a:r>
              <a:rPr b="1" sz="950">
                <a:solidFill>
                  <a:srgbClr val="0F2C59"/>
                </a:solidFill>
              </a:rPr>
              <a:t>• Backend Graph Analytics &amp; ML Engine: </a:t>
            </a:r>
            <a:r>
              <a:rPr b="1" sz="950">
                <a:solidFill>
                  <a:srgbClr val="0284C7"/>
                </a:solidFill>
              </a:rPr>
              <a:t>35%
</a:t>
            </a:r>
            <a:r>
              <a:rPr sz="850">
                <a:solidFill>
                  <a:srgbClr val="475569"/>
                </a:solidFill>
              </a:rPr>
              <a:t>   (NetworkX, ML engines, ETL parsers)</a:t>
            </a:r>
          </a:p>
          <a:p>
            <a:pPr>
              <a:spcAft>
                <a:spcPts val="400"/>
              </a:spcAft>
            </a:pPr>
            <a:r>
              <a:rPr b="1" sz="950">
                <a:solidFill>
                  <a:srgbClr val="0F2C59"/>
                </a:solidFill>
              </a:rPr>
              <a:t>• Tactical Frontend &amp; 3D WebGL Canvas: </a:t>
            </a:r>
            <a:r>
              <a:rPr b="1" sz="950">
                <a:solidFill>
                  <a:srgbClr val="0284C7"/>
                </a:solidFill>
              </a:rPr>
              <a:t>25%
</a:t>
            </a:r>
            <a:r>
              <a:rPr sz="850">
                <a:solidFill>
                  <a:srgbClr val="475569"/>
                </a:solidFill>
              </a:rPr>
              <a:t>   (2D/3D visualizer, responsive UI)</a:t>
            </a:r>
          </a:p>
          <a:p>
            <a:pPr>
              <a:spcAft>
                <a:spcPts val="400"/>
              </a:spcAft>
            </a:pPr>
            <a:r>
              <a:rPr b="1" sz="950">
                <a:solidFill>
                  <a:srgbClr val="0F2C59"/>
                </a:solidFill>
              </a:rPr>
              <a:t>• Forensics, Security &amp; Cryptography: </a:t>
            </a:r>
            <a:r>
              <a:rPr b="1" sz="950">
                <a:solidFill>
                  <a:srgbClr val="0284C7"/>
                </a:solidFill>
              </a:rPr>
              <a:t>20%
</a:t>
            </a:r>
            <a:r>
              <a:rPr sz="850">
                <a:solidFill>
                  <a:srgbClr val="475569"/>
                </a:solidFill>
              </a:rPr>
              <a:t>   (SHA-256 custody, Sec 65B exports)</a:t>
            </a:r>
          </a:p>
          <a:p>
            <a:pPr>
              <a:spcAft>
                <a:spcPts val="400"/>
              </a:spcAft>
            </a:pPr>
            <a:r>
              <a:rPr b="1" sz="950">
                <a:solidFill>
                  <a:srgbClr val="0F2C59"/>
                </a:solidFill>
              </a:rPr>
              <a:t>• Law Enforcement SIT Field Testing: </a:t>
            </a:r>
            <a:r>
              <a:rPr b="1" sz="950">
                <a:solidFill>
                  <a:srgbClr val="0284C7"/>
                </a:solidFill>
              </a:rPr>
              <a:t>10%
</a:t>
            </a:r>
            <a:r>
              <a:rPr sz="850">
                <a:solidFill>
                  <a:srgbClr val="475569"/>
                </a:solidFill>
              </a:rPr>
              <a:t>   (Precinct pilot &amp; user evaluation)</a:t>
            </a:r>
          </a:p>
          <a:p>
            <a:pPr>
              <a:spcAft>
                <a:spcPts val="400"/>
              </a:spcAft>
            </a:pPr>
            <a:r>
              <a:rPr b="1" sz="950">
                <a:solidFill>
                  <a:srgbClr val="0F2C59"/>
                </a:solidFill>
              </a:rPr>
              <a:t>• Compliance, Documentation &amp; Training: </a:t>
            </a:r>
            <a:r>
              <a:rPr b="1" sz="950">
                <a:solidFill>
                  <a:srgbClr val="0284C7"/>
                </a:solidFill>
              </a:rPr>
              <a:t>10%
</a:t>
            </a:r>
            <a:r>
              <a:rPr sz="850">
                <a:solidFill>
                  <a:srgbClr val="475569"/>
                </a:solidFill>
              </a:rPr>
              <a:t>   (Standard operating procedures)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754880" y="2194560"/>
            <a:ext cx="3429000" cy="2011680"/>
          </a:xfrm>
          <a:prstGeom prst="roundRect">
            <a:avLst/>
          </a:prstGeom>
          <a:solidFill>
            <a:srgbClr val="F8FAFC"/>
          </a:solidFill>
          <a:ln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tIns="137160" rIns="164592"/>
          <a:lstStyle/>
          <a:p>
            <a:pPr algn="ctr"/>
            <a:r>
              <a:rPr b="1" sz="1000">
                <a:solidFill>
                  <a:srgbClr val="0284C7"/>
                </a:solidFill>
              </a:rPr>
              <a:t>INSTITUTIONAL POLICE BENEFITS</a:t>
            </a:r>
          </a:p>
          <a:p>
            <a:pPr>
              <a:spcBef>
                <a:spcPts val="400"/>
              </a:spcBef>
            </a:pPr>
            <a:r>
              <a:rPr sz="850">
                <a:solidFill>
                  <a:srgbClr val="0F172A"/>
                </a:solidFill>
              </a:rPr>
              <a:t>• Breaks down data silos between Crime Branch, Cyber Cell, and STF.
• Unmasks 'quiet coordinators' and Hawala financiers hiding behind frontmen.
• Transforms raw evidence dumps into actionable operational plans in minutes.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321040" y="2194560"/>
            <a:ext cx="3429000" cy="2011680"/>
          </a:xfrm>
          <a:prstGeom prst="roundRect">
            <a:avLst/>
          </a:prstGeom>
          <a:solidFill>
            <a:srgbClr val="F8FAFC"/>
          </a:solidFill>
          <a:ln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tIns="137160" rIns="164592"/>
          <a:lstStyle/>
          <a:p>
            <a:pPr algn="ctr"/>
            <a:r>
              <a:rPr b="1" sz="1000">
                <a:solidFill>
                  <a:srgbClr val="059669"/>
                </a:solidFill>
              </a:rPr>
              <a:t>ECONOMIC &amp; OPERATIONAL BENEFITS</a:t>
            </a:r>
          </a:p>
          <a:p>
            <a:pPr>
              <a:spcBef>
                <a:spcPts val="400"/>
              </a:spcBef>
            </a:pPr>
            <a:r>
              <a:rPr sz="850">
                <a:solidFill>
                  <a:srgbClr val="0F172A"/>
                </a:solidFill>
              </a:rPr>
              <a:t>• Saves hundreds of investigative man-hours per complex syndicate case.
• Eliminates reliance on expensive foreign intelligence software subscriptions.
• Lowers precinct computing costs via zero-GPU lightweight architecture.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754880" y="4297680"/>
            <a:ext cx="3429000" cy="2011680"/>
          </a:xfrm>
          <a:prstGeom prst="roundRect">
            <a:avLst/>
          </a:prstGeom>
          <a:solidFill>
            <a:srgbClr val="F8FAFC"/>
          </a:solidFill>
          <a:ln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tIns="137160" rIns="164592"/>
          <a:lstStyle/>
          <a:p>
            <a:pPr algn="ctr"/>
            <a:r>
              <a:rPr b="1" sz="1000">
                <a:solidFill>
                  <a:srgbClr val="D97706"/>
                </a:solidFill>
              </a:rPr>
              <a:t>SOCIETAL &amp; JUSTICE BENEFITS</a:t>
            </a:r>
          </a:p>
          <a:p>
            <a:pPr>
              <a:spcBef>
                <a:spcPts val="400"/>
              </a:spcBef>
            </a:pPr>
            <a:r>
              <a:rPr sz="850">
                <a:solidFill>
                  <a:srgbClr val="0F172A"/>
                </a:solidFill>
              </a:rPr>
              <a:t>• Protects innocent citizens from wrongful arrest via strict exhibit corroboration.
• Enforces Article 20(3) non-coercive, evidence-grounded interview guidelines.
• Increases trial conviction rates by eliminating evidentiary tampering claims.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321040" y="4297680"/>
            <a:ext cx="3429000" cy="2011680"/>
          </a:xfrm>
          <a:prstGeom prst="roundRect">
            <a:avLst/>
          </a:prstGeom>
          <a:solidFill>
            <a:srgbClr val="F8FAFC"/>
          </a:solidFill>
          <a:ln>
            <a:solidFill>
              <a:srgbClr val="0F2C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tIns="137160" rIns="164592"/>
          <a:lstStyle/>
          <a:p>
            <a:pPr algn="ctr"/>
            <a:r>
              <a:rPr b="1" sz="1000">
                <a:solidFill>
                  <a:srgbClr val="0F2C59"/>
                </a:solidFill>
              </a:rPr>
              <a:t>STRATEGIC &amp; NATIONAL SECURITY</a:t>
            </a:r>
          </a:p>
          <a:p>
            <a:pPr>
              <a:spcBef>
                <a:spcPts val="400"/>
              </a:spcBef>
            </a:pPr>
            <a:r>
              <a:rPr sz="850">
                <a:solidFill>
                  <a:srgbClr val="0F172A"/>
                </a:solidFill>
              </a:rPr>
              <a:t>• Maps multi-jurisdictional cartels across narcotics, Hawala, and cyber-mules.
• Future-ready for national intelligence interoperability (CCTNS / NATGRID).
• Strengthens sovereignty by ensuring intelligence data stays entirely on-premise.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182880"/>
            <a:ext cx="11277295" cy="36576"/>
          </a:xfrm>
          <a:prstGeom prst="rect">
            <a:avLst/>
          </a:prstGeom>
          <a:solidFill>
            <a:srgbClr val="0284C7"/>
          </a:solidFill>
          <a:ln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320040"/>
            <a:ext cx="1645920" cy="502920"/>
          </a:xfrm>
          <a:prstGeom prst="roundRect">
            <a:avLst/>
          </a:prstGeom>
          <a:solidFill>
            <a:srgbClr val="EFF6FF"/>
          </a:solidFill>
          <a:ln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b="1" sz="1400">
                <a:solidFill>
                  <a:srgbClr val="0F2C59"/>
                </a:solidFill>
              </a:rPr>
              <a:t>Team TRACE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286000" y="274320"/>
            <a:ext cx="7619695" cy="6400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b="1" sz="2400">
                <a:solidFill>
                  <a:srgbClr val="0F2C59"/>
                </a:solidFill>
              </a:rPr>
              <a:t>RESEARCH AND REFERENCES</a:t>
            </a:r>
          </a:p>
        </p:txBody>
      </p:sp>
      <p:sp>
        <p:nvSpPr>
          <p:cNvPr id="5" name="Rectangle 4"/>
          <p:cNvSpPr/>
          <p:nvPr/>
        </p:nvSpPr>
        <p:spPr>
          <a:xfrm>
            <a:off x="10149840" y="320040"/>
            <a:ext cx="1554480" cy="502920"/>
          </a:xfrm>
          <a:prstGeom prst="rect">
            <a:avLst/>
          </a:prstGeom>
          <a:solidFill>
            <a:srgbClr val="F8FAFC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b="1" sz="900">
                <a:solidFill>
                  <a:srgbClr val="0F2C59"/>
                </a:solidFill>
              </a:rPr>
              <a:t>SMART INDIA
HACKATHON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1127729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475569"/>
                </a:solidFill>
              </a:rPr>
              <a:t>@SIH Idea submission- Template  |  Slide 6 of 6  |  TRACE — Criminal Network Intelligence Platform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005840"/>
            <a:ext cx="11277295" cy="5303520"/>
          </a:xfrm>
          <a:prstGeom prst="roundRect">
            <a:avLst/>
          </a:prstGeom>
          <a:solidFill>
            <a:srgbClr val="F8FAFC"/>
          </a:solidFill>
          <a:ln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0" rIns="365760" tIns="228600"/>
          <a:lstStyle/>
          <a:p>
            <a:pPr algn="l"/>
            <a:r>
              <a:rPr b="1" sz="1500">
                <a:solidFill>
                  <a:srgbClr val="0F2C59"/>
                </a:solidFill>
              </a:rPr>
              <a:t>Grounded Theoretical, Algorithmic &amp; Statutory Foundation</a:t>
            </a:r>
          </a:p>
          <a:p>
            <a:pPr>
              <a:spcBef>
                <a:spcPts val="400"/>
              </a:spcBef>
            </a:pPr>
            <a:r>
              <a:rPr b="1" sz="1050">
                <a:solidFill>
                  <a:srgbClr val="0F2C59"/>
                </a:solidFill>
              </a:rPr>
              <a:t>1. Complex Network Centrality in Criminal Organizations
</a:t>
            </a:r>
            <a:r>
              <a:rPr sz="900">
                <a:solidFill>
                  <a:srgbClr val="0284C7"/>
                </a:solidFill>
              </a:rPr>
              <a:t>Citation: Sparrow, M. K. (1991). The Network Approach to Criminal Intelligence: An Analytical Framework. Social Networks, 13(3), 251-274.
</a:t>
            </a:r>
            <a:r>
              <a:rPr sz="900">
                <a:solidFill>
                  <a:srgbClr val="475569"/>
                </a:solidFill>
              </a:rPr>
              <a:t>TRACE Grounding: Grounds TRACE's betweenness cut-vertex detection to identify low-profile syndicate intermediaries rather than high-degree decoys.</a:t>
            </a:r>
          </a:p>
          <a:p>
            <a:pPr>
              <a:spcBef>
                <a:spcPts val="400"/>
              </a:spcBef>
            </a:pPr>
            <a:r>
              <a:rPr b="1" sz="1050">
                <a:solidFill>
                  <a:srgbClr val="0F2C59"/>
                </a:solidFill>
              </a:rPr>
              <a:t>2. Community Detection in Complex Topologies (Louvain &amp; Greedy Modularity)
</a:t>
            </a:r>
            <a:r>
              <a:rPr sz="900">
                <a:solidFill>
                  <a:srgbClr val="0284C7"/>
                </a:solidFill>
              </a:rPr>
              <a:t>Citation: Blondel, V. D., Guillaume, J. L., Lambiotte, R., &amp; Lefebvre, E. (2008). Fast Unfolding of Communities in Large Networks. J. Stat. Mech., P10008.
</a:t>
            </a:r>
            <a:r>
              <a:rPr sz="900">
                <a:solidFill>
                  <a:srgbClr val="475569"/>
                </a:solidFill>
              </a:rPr>
              <a:t>TRACE Grounding: Informs TRACE's automated separation of criminal syndicates into distinct operational clusters (financial laundering vs field logistics).</a:t>
            </a:r>
          </a:p>
          <a:p>
            <a:pPr>
              <a:spcBef>
                <a:spcPts val="400"/>
              </a:spcBef>
            </a:pPr>
            <a:r>
              <a:rPr b="1" sz="1050">
                <a:solidFill>
                  <a:srgbClr val="0F2C59"/>
                </a:solidFill>
              </a:rPr>
              <a:t>3. Link Prediction in Complex Relational Networks
</a:t>
            </a:r>
            <a:r>
              <a:rPr sz="900">
                <a:solidFill>
                  <a:srgbClr val="0284C7"/>
                </a:solidFill>
              </a:rPr>
              <a:t>Citation: Adamic, L. A., &amp; Adar, E. (2003). Friends and Neighbors on the Web. Social Networks, 25(3), 211-230.
</a:t>
            </a:r>
            <a:r>
              <a:rPr sz="900">
                <a:solidFill>
                  <a:srgbClr val="475569"/>
                </a:solidFill>
              </a:rPr>
              <a:t>TRACE Grounding: Drives TRACE's Adamic-Adar and Resource Allocation algorithms to surface unobserved conspiratorial ties prior to suspect arrest.</a:t>
            </a:r>
          </a:p>
          <a:p>
            <a:pPr>
              <a:spcBef>
                <a:spcPts val="400"/>
              </a:spcBef>
            </a:pPr>
            <a:r>
              <a:rPr b="1" sz="1050">
                <a:solidFill>
                  <a:srgbClr val="0F2C59"/>
                </a:solidFill>
              </a:rPr>
              <a:t>4. Unsupervised Anomaly Detection for Irregular Financial Flows
</a:t>
            </a:r>
            <a:r>
              <a:rPr sz="900">
                <a:solidFill>
                  <a:srgbClr val="0284C7"/>
                </a:solidFill>
              </a:rPr>
              <a:t>Citation: Liu, F. T., Ting, K. M., &amp; Zhou, Z.-H. (2008). Isolation Forest. Eighth IEEE International Conference on Data Mining (ICDM), 413-422.
</a:t>
            </a:r>
            <a:r>
              <a:rPr sz="900">
                <a:solidFill>
                  <a:srgbClr val="475569"/>
                </a:solidFill>
              </a:rPr>
              <a:t>TRACE Grounding: Powers TRACE's real-flag engine to uncover smurfed Hawala cash disbursements and coordinated midnight cell-tower anomalies.</a:t>
            </a:r>
          </a:p>
          <a:p>
            <a:pPr>
              <a:spcBef>
                <a:spcPts val="400"/>
              </a:spcBef>
            </a:pPr>
            <a:r>
              <a:rPr b="1" sz="1050">
                <a:solidFill>
                  <a:srgbClr val="0F2C59"/>
                </a:solidFill>
              </a:rPr>
              <a:t>5. Statutory Admissibility of Electronic Records under Section 65B IEA / Section 63 BSA
</a:t>
            </a:r>
            <a:r>
              <a:rPr sz="900">
                <a:solidFill>
                  <a:srgbClr val="0284C7"/>
                </a:solidFill>
              </a:rPr>
              <a:t>Citation: Supreme Court of India (2020). Arjun Panditrao Khotkar v. Kailash Kushanrao Gorantyal and Others. (2020) 7 SCC 1.
</a:t>
            </a:r>
            <a:r>
              <a:rPr sz="900">
                <a:solidFill>
                  <a:srgbClr val="475569"/>
                </a:solidFill>
              </a:rPr>
              <a:t>TRACE Grounding: Mandates TRACE's automated generation of cryptographic Section 65B / Section 63 electronic evidence certificates with SHA-256 provenance.</a:t>
            </a:r>
          </a:p>
          <a:p>
            <a:pPr>
              <a:spcBef>
                <a:spcPts val="400"/>
              </a:spcBef>
            </a:pPr>
            <a:r>
              <a:rPr b="1" sz="1050">
                <a:solidFill>
                  <a:srgbClr val="0F2C59"/>
                </a:solidFill>
              </a:rPr>
              <a:t>6. Mitigation of Automation Bias in Public Sector Decision-Support Systems
</a:t>
            </a:r>
            <a:r>
              <a:rPr sz="900">
                <a:solidFill>
                  <a:srgbClr val="0284C7"/>
                </a:solidFill>
              </a:rPr>
              <a:t>Citation: Goddard, K., Roudsari, A., &amp; Wyatt, J. C. (2012). Automation Bias: A Systematic Review of Risks in Clinical and Legal Decision Support. BMJ Qual Saf.
</a:t>
            </a:r>
            <a:r>
              <a:rPr sz="900">
                <a:solidFill>
                  <a:srgbClr val="475569"/>
                </a:solidFill>
              </a:rPr>
              <a:t>TRACE Grounding: Enforces TRACE's strict architectural boundary: algorithms provide calibrated investigative priority scores—never automated guilt determinations.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